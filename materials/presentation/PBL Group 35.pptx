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omments/comment1.xml" ContentType="application/vnd.openxmlformats-officedocument.presentationml.comments+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3"/>
    <p:sldId id="271" r:id="rId24"/>
    <p:sldId id="272" r:id="rId25"/>
    <p:sldId id="273" r:id="rId26"/>
    <p:sldId id="274" r:id="rId27"/>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mAuthor id="0" name="Aditya Ujwall" initials="AU" lastIdx="1" clrIdx="0"/>
</p:cmAuthorLst>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5D8CA"/>
          </a:solidFill>
        </a:fill>
      </a:tcStyle>
    </a:wholeTbl>
    <a:band2H>
      <a:tcTxStyle b="def" i="def"/>
      <a:tcStyle>
        <a:tcBdr/>
        <a:fill>
          <a:solidFill>
            <a:srgbClr val="FAEC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8D0CD"/>
          </a:solidFill>
        </a:fill>
      </a:tcStyle>
    </a:wholeTbl>
    <a:band2H>
      <a:tcTxStyle b="def" i="def"/>
      <a:tcStyle>
        <a:tcBdr/>
        <a:fill>
          <a:solidFill>
            <a:srgbClr val="EDE9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CDFD9"/>
          </a:solidFill>
        </a:fill>
      </a:tcStyle>
    </a:wholeTbl>
    <a:band2H>
      <a:tcTxStyle b="def" i="def"/>
      <a:tcStyle>
        <a:tcBdr/>
        <a:fill>
          <a:solidFill>
            <a:srgbClr val="EEF0ED"/>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comments" Target="comments/comment1.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s>

</file>

<file path=ppt/comments/comment1.xml><?xml version="1.0" encoding="utf-8"?>
<p:cm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m authorId="0" dt="2025-04-14T23:59:17.197" idx="1">
    <p:pos x="10" y="10"/>
    <p:text/>
    <p:extLst>
      <p:ext uri="{C676402C-5697-4E1C-873F-D02D1690AC5C}">
        <p15:threadingInfo xmlns:p15="http://schemas.microsoft.com/office/powerpoint/2012/main" timeZoneBias="-330"/>
      </p:ext>
    </p:extLst>
  </p:cm>
</p:cmLst>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06" name="Shape 106"/>
          <p:cNvSpPr/>
          <p:nvPr>
            <p:ph type="sldImg"/>
          </p:nvPr>
        </p:nvSpPr>
        <p:spPr>
          <a:xfrm>
            <a:off x="1143000" y="685800"/>
            <a:ext cx="4572000" cy="3429000"/>
          </a:xfrm>
          <a:prstGeom prst="rect">
            <a:avLst/>
          </a:prstGeom>
        </p:spPr>
        <p:txBody>
          <a:bodyPr/>
          <a:lstStyle/>
          <a:p>
            <a:pPr/>
          </a:p>
        </p:txBody>
      </p:sp>
      <p:sp>
        <p:nvSpPr>
          <p:cNvPr id="107" name="Shape 10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Slide">
    <p:spTree>
      <p:nvGrpSpPr>
        <p:cNvPr id="1" name=""/>
        <p:cNvGrpSpPr/>
        <p:nvPr/>
      </p:nvGrpSpPr>
      <p:grpSpPr>
        <a:xfrm>
          <a:off x="0" y="0"/>
          <a:ext cx="0" cy="0"/>
          <a:chOff x="0" y="0"/>
          <a:chExt cx="0" cy="0"/>
        </a:xfrm>
      </p:grpSpPr>
      <p:sp>
        <p:nvSpPr>
          <p:cNvPr id="14" name="Rectangle 6"/>
          <p:cNvSpPr/>
          <p:nvPr/>
        </p:nvSpPr>
        <p:spPr>
          <a:xfrm>
            <a:off x="3175" y="6400800"/>
            <a:ext cx="12188825" cy="457200"/>
          </a:xfrm>
          <a:prstGeom prst="rect">
            <a:avLst/>
          </a:prstGeom>
          <a:solidFill>
            <a:schemeClr val="accent2"/>
          </a:solidFill>
          <a:ln w="12700">
            <a:miter lim="400000"/>
          </a:ln>
        </p:spPr>
        <p:txBody>
          <a:bodyPr lIns="0" tIns="0" rIns="0" bIns="0"/>
          <a:lstStyle/>
          <a:p>
            <a:pPr/>
          </a:p>
        </p:txBody>
      </p:sp>
      <p:sp>
        <p:nvSpPr>
          <p:cNvPr id="15" name="Rectangle 7"/>
          <p:cNvSpPr/>
          <p:nvPr/>
        </p:nvSpPr>
        <p:spPr>
          <a:xfrm>
            <a:off x="14" y="6334316"/>
            <a:ext cx="12188826" cy="64009"/>
          </a:xfrm>
          <a:prstGeom prst="rect">
            <a:avLst/>
          </a:prstGeom>
          <a:solidFill>
            <a:schemeClr val="accent1"/>
          </a:solidFill>
          <a:ln w="12700">
            <a:miter lim="400000"/>
          </a:ln>
        </p:spPr>
        <p:txBody>
          <a:bodyPr lIns="0" tIns="0" rIns="0" bIns="0"/>
          <a:lstStyle/>
          <a:p>
            <a:pPr/>
          </a:p>
        </p:txBody>
      </p:sp>
      <p:sp>
        <p:nvSpPr>
          <p:cNvPr id="16" name="Title Text"/>
          <p:cNvSpPr txBox="1"/>
          <p:nvPr>
            <p:ph type="title"/>
          </p:nvPr>
        </p:nvSpPr>
        <p:spPr>
          <a:xfrm>
            <a:off x="1097280" y="758951"/>
            <a:ext cx="10058401" cy="3566161"/>
          </a:xfrm>
          <a:prstGeom prst="rect">
            <a:avLst/>
          </a:prstGeom>
        </p:spPr>
        <p:txBody>
          <a:bodyPr/>
          <a:lstStyle>
            <a:lvl1pPr>
              <a:defRPr sz="8000">
                <a:solidFill>
                  <a:srgbClr val="262626"/>
                </a:solidFill>
              </a:defRPr>
            </a:lvl1pPr>
          </a:lstStyle>
          <a:p>
            <a:pPr/>
            <a:r>
              <a:t>Title Text</a:t>
            </a:r>
          </a:p>
        </p:txBody>
      </p:sp>
      <p:sp>
        <p:nvSpPr>
          <p:cNvPr id="17" name="Body Level One…"/>
          <p:cNvSpPr txBox="1"/>
          <p:nvPr>
            <p:ph type="body" sz="quarter" idx="1"/>
          </p:nvPr>
        </p:nvSpPr>
        <p:spPr>
          <a:xfrm>
            <a:off x="1100050" y="4455619"/>
            <a:ext cx="10058401" cy="1143001"/>
          </a:xfrm>
          <a:prstGeom prst="rect">
            <a:avLst/>
          </a:prstGeom>
        </p:spPr>
        <p:txBody>
          <a:bodyPr lIns="45719" tIns="45719" rIns="45719" bIns="45719"/>
          <a:lstStyle>
            <a:lvl1pPr marL="0" indent="0">
              <a:buClrTx/>
              <a:buSzTx/>
              <a:buFontTx/>
              <a:buNone/>
              <a:defRPr cap="all" spc="200" sz="2400">
                <a:solidFill>
                  <a:srgbClr val="637052"/>
                </a:solidFill>
                <a:latin typeface="Calibri Light"/>
                <a:ea typeface="Calibri Light"/>
                <a:cs typeface="Calibri Light"/>
                <a:sym typeface="Calibri Light"/>
              </a:defRPr>
            </a:lvl1pPr>
            <a:lvl2pPr marL="0" indent="457200">
              <a:buClrTx/>
              <a:buSzTx/>
              <a:buFontTx/>
              <a:buNone/>
              <a:defRPr cap="all" spc="200" sz="2400">
                <a:solidFill>
                  <a:srgbClr val="637052"/>
                </a:solidFill>
                <a:latin typeface="Calibri Light"/>
                <a:ea typeface="Calibri Light"/>
                <a:cs typeface="Calibri Light"/>
                <a:sym typeface="Calibri Light"/>
              </a:defRPr>
            </a:lvl2pPr>
            <a:lvl3pPr marL="0" indent="914400">
              <a:buClrTx/>
              <a:buSzTx/>
              <a:buFontTx/>
              <a:buNone/>
              <a:defRPr cap="all" spc="200" sz="2400">
                <a:solidFill>
                  <a:srgbClr val="637052"/>
                </a:solidFill>
                <a:latin typeface="Calibri Light"/>
                <a:ea typeface="Calibri Light"/>
                <a:cs typeface="Calibri Light"/>
                <a:sym typeface="Calibri Light"/>
              </a:defRPr>
            </a:lvl3pPr>
            <a:lvl4pPr marL="0" indent="1371600">
              <a:buClrTx/>
              <a:buSzTx/>
              <a:buFontTx/>
              <a:buNone/>
              <a:defRPr cap="all" spc="200" sz="2400">
                <a:solidFill>
                  <a:srgbClr val="637052"/>
                </a:solidFill>
                <a:latin typeface="Calibri Light"/>
                <a:ea typeface="Calibri Light"/>
                <a:cs typeface="Calibri Light"/>
                <a:sym typeface="Calibri Light"/>
              </a:defRPr>
            </a:lvl4pPr>
            <a:lvl5pPr marL="0" indent="1828800">
              <a:buClrTx/>
              <a:buSzTx/>
              <a:buFontTx/>
              <a:buNone/>
              <a:defRPr cap="all" spc="200" sz="2400">
                <a:solidFill>
                  <a:srgbClr val="637052"/>
                </a:solidFill>
                <a:latin typeface="Calibri Light"/>
                <a:ea typeface="Calibri Light"/>
                <a:cs typeface="Calibri Light"/>
                <a:sym typeface="Calibri Light"/>
              </a:defRPr>
            </a:lvl5pPr>
          </a:lstStyle>
          <a:p>
            <a:pPr/>
            <a:r>
              <a:t>Body Level One</a:t>
            </a:r>
          </a:p>
          <a:p>
            <a:pPr lvl="1"/>
            <a:r>
              <a:t>Body Level Two</a:t>
            </a:r>
          </a:p>
          <a:p>
            <a:pPr lvl="2"/>
            <a:r>
              <a:t>Body Level Three</a:t>
            </a:r>
          </a:p>
          <a:p>
            <a:pPr lvl="3"/>
            <a:r>
              <a:t>Body Level Four</a:t>
            </a:r>
          </a:p>
          <a:p>
            <a:pPr lvl="4"/>
            <a:r>
              <a:t>Body Level Five</a:t>
            </a:r>
          </a:p>
        </p:txBody>
      </p:sp>
      <p:sp>
        <p:nvSpPr>
          <p:cNvPr id="18" name="Straight Connector 8"/>
          <p:cNvSpPr/>
          <p:nvPr/>
        </p:nvSpPr>
        <p:spPr>
          <a:xfrm>
            <a:off x="1207657" y="4343400"/>
            <a:ext cx="9875521" cy="0"/>
          </a:xfrm>
          <a:prstGeom prst="line">
            <a:avLst/>
          </a:prstGeom>
          <a:ln w="6350">
            <a:solidFill>
              <a:srgbClr val="808080"/>
            </a:solidFill>
          </a:ln>
        </p:spPr>
        <p:txBody>
          <a:bodyPr lIns="0" tIns="0" rIns="0" bIns="0"/>
          <a:lstStyle/>
          <a:p>
            <a:pPr/>
          </a:p>
        </p:txBody>
      </p:sp>
      <p:sp>
        <p:nvSpPr>
          <p:cNvPr id="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6" name="Title Text"/>
          <p:cNvSpPr txBox="1"/>
          <p:nvPr>
            <p:ph type="title"/>
          </p:nvPr>
        </p:nvSpPr>
        <p:spPr>
          <a:prstGeom prst="rect">
            <a:avLst/>
          </a:prstGeom>
        </p:spPr>
        <p:txBody>
          <a:bodyPr/>
          <a:lstStyle/>
          <a:p>
            <a:pPr/>
            <a:r>
              <a:t>Title Text</a:t>
            </a:r>
          </a:p>
        </p:txBody>
      </p:sp>
      <p:sp>
        <p:nvSpPr>
          <p:cNvPr id="27" name="Body Level One…"/>
          <p:cNvSpPr txBox="1"/>
          <p:nvPr>
            <p:ph type="body" idx="1"/>
          </p:nvPr>
        </p:nvSpPr>
        <p:spPr>
          <a:xfrm>
            <a:off x="1097280" y="1845734"/>
            <a:ext cx="10058401" cy="402336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 Header">
    <p:spTree>
      <p:nvGrpSpPr>
        <p:cNvPr id="1" name=""/>
        <p:cNvGrpSpPr/>
        <p:nvPr/>
      </p:nvGrpSpPr>
      <p:grpSpPr>
        <a:xfrm>
          <a:off x="0" y="0"/>
          <a:ext cx="0" cy="0"/>
          <a:chOff x="0" y="0"/>
          <a:chExt cx="0" cy="0"/>
        </a:xfrm>
      </p:grpSpPr>
      <p:sp>
        <p:nvSpPr>
          <p:cNvPr id="35" name="Rectangle 6"/>
          <p:cNvSpPr/>
          <p:nvPr/>
        </p:nvSpPr>
        <p:spPr>
          <a:xfrm>
            <a:off x="3175" y="6400800"/>
            <a:ext cx="12188825" cy="457200"/>
          </a:xfrm>
          <a:prstGeom prst="rect">
            <a:avLst/>
          </a:prstGeom>
          <a:solidFill>
            <a:schemeClr val="accent2"/>
          </a:solidFill>
          <a:ln w="12700">
            <a:miter lim="400000"/>
          </a:ln>
        </p:spPr>
        <p:txBody>
          <a:bodyPr lIns="0" tIns="0" rIns="0" bIns="0"/>
          <a:lstStyle/>
          <a:p>
            <a:pPr/>
          </a:p>
        </p:txBody>
      </p:sp>
      <p:sp>
        <p:nvSpPr>
          <p:cNvPr id="36" name="Rectangle 7"/>
          <p:cNvSpPr/>
          <p:nvPr/>
        </p:nvSpPr>
        <p:spPr>
          <a:xfrm>
            <a:off x="14" y="6334316"/>
            <a:ext cx="12188826" cy="64009"/>
          </a:xfrm>
          <a:prstGeom prst="rect">
            <a:avLst/>
          </a:prstGeom>
          <a:solidFill>
            <a:schemeClr val="accent1"/>
          </a:solidFill>
          <a:ln w="12700">
            <a:miter lim="400000"/>
          </a:ln>
        </p:spPr>
        <p:txBody>
          <a:bodyPr lIns="0" tIns="0" rIns="0" bIns="0"/>
          <a:lstStyle/>
          <a:p>
            <a:pPr/>
          </a:p>
        </p:txBody>
      </p:sp>
      <p:sp>
        <p:nvSpPr>
          <p:cNvPr id="37" name="Title Text"/>
          <p:cNvSpPr txBox="1"/>
          <p:nvPr>
            <p:ph type="title"/>
          </p:nvPr>
        </p:nvSpPr>
        <p:spPr>
          <a:xfrm>
            <a:off x="1097280" y="758951"/>
            <a:ext cx="10058401" cy="3566161"/>
          </a:xfrm>
          <a:prstGeom prst="rect">
            <a:avLst/>
          </a:prstGeom>
        </p:spPr>
        <p:txBody>
          <a:bodyPr/>
          <a:lstStyle>
            <a:lvl1pPr>
              <a:defRPr sz="8000">
                <a:solidFill>
                  <a:srgbClr val="262626"/>
                </a:solidFill>
              </a:defRPr>
            </a:lvl1pPr>
          </a:lstStyle>
          <a:p>
            <a:pPr/>
            <a:r>
              <a:t>Title Text</a:t>
            </a:r>
          </a:p>
        </p:txBody>
      </p:sp>
      <p:sp>
        <p:nvSpPr>
          <p:cNvPr id="38" name="Body Level One…"/>
          <p:cNvSpPr txBox="1"/>
          <p:nvPr>
            <p:ph type="body" sz="quarter" idx="1"/>
          </p:nvPr>
        </p:nvSpPr>
        <p:spPr>
          <a:xfrm>
            <a:off x="1097280" y="4453128"/>
            <a:ext cx="10058401" cy="1143001"/>
          </a:xfrm>
          <a:prstGeom prst="rect">
            <a:avLst/>
          </a:prstGeom>
        </p:spPr>
        <p:txBody>
          <a:bodyPr lIns="45719" tIns="45719" rIns="45719" bIns="45719"/>
          <a:lstStyle>
            <a:lvl1pPr marL="0" indent="0">
              <a:buClrTx/>
              <a:buSzTx/>
              <a:buFontTx/>
              <a:buNone/>
              <a:defRPr cap="all" spc="200" sz="2400">
                <a:solidFill>
                  <a:srgbClr val="637052"/>
                </a:solidFill>
                <a:latin typeface="Calibri Light"/>
                <a:ea typeface="Calibri Light"/>
                <a:cs typeface="Calibri Light"/>
                <a:sym typeface="Calibri Light"/>
              </a:defRPr>
            </a:lvl1pPr>
            <a:lvl2pPr marL="0" indent="457200">
              <a:buClrTx/>
              <a:buSzTx/>
              <a:buFontTx/>
              <a:buNone/>
              <a:defRPr cap="all" spc="200" sz="2400">
                <a:solidFill>
                  <a:srgbClr val="637052"/>
                </a:solidFill>
                <a:latin typeface="Calibri Light"/>
                <a:ea typeface="Calibri Light"/>
                <a:cs typeface="Calibri Light"/>
                <a:sym typeface="Calibri Light"/>
              </a:defRPr>
            </a:lvl2pPr>
            <a:lvl3pPr marL="0" indent="914400">
              <a:buClrTx/>
              <a:buSzTx/>
              <a:buFontTx/>
              <a:buNone/>
              <a:defRPr cap="all" spc="200" sz="2400">
                <a:solidFill>
                  <a:srgbClr val="637052"/>
                </a:solidFill>
                <a:latin typeface="Calibri Light"/>
                <a:ea typeface="Calibri Light"/>
                <a:cs typeface="Calibri Light"/>
                <a:sym typeface="Calibri Light"/>
              </a:defRPr>
            </a:lvl3pPr>
            <a:lvl4pPr marL="0" indent="1371600">
              <a:buClrTx/>
              <a:buSzTx/>
              <a:buFontTx/>
              <a:buNone/>
              <a:defRPr cap="all" spc="200" sz="2400">
                <a:solidFill>
                  <a:srgbClr val="637052"/>
                </a:solidFill>
                <a:latin typeface="Calibri Light"/>
                <a:ea typeface="Calibri Light"/>
                <a:cs typeface="Calibri Light"/>
                <a:sym typeface="Calibri Light"/>
              </a:defRPr>
            </a:lvl4pPr>
            <a:lvl5pPr marL="0" indent="1828800">
              <a:buClrTx/>
              <a:buSzTx/>
              <a:buFontTx/>
              <a:buNone/>
              <a:defRPr cap="all" spc="200" sz="2400">
                <a:solidFill>
                  <a:srgbClr val="637052"/>
                </a:solidFill>
                <a:latin typeface="Calibri Light"/>
                <a:ea typeface="Calibri Light"/>
                <a:cs typeface="Calibri Light"/>
                <a:sym typeface="Calibri Light"/>
              </a:defRPr>
            </a:lvl5pPr>
          </a:lstStyle>
          <a:p>
            <a:pPr/>
            <a:r>
              <a:t>Body Level One</a:t>
            </a:r>
          </a:p>
          <a:p>
            <a:pPr lvl="1"/>
            <a:r>
              <a:t>Body Level Two</a:t>
            </a:r>
          </a:p>
          <a:p>
            <a:pPr lvl="2"/>
            <a:r>
              <a:t>Body Level Three</a:t>
            </a:r>
          </a:p>
          <a:p>
            <a:pPr lvl="3"/>
            <a:r>
              <a:t>Body Level Four</a:t>
            </a:r>
          </a:p>
          <a:p>
            <a:pPr lvl="4"/>
            <a:r>
              <a:t>Body Level Five</a:t>
            </a:r>
          </a:p>
        </p:txBody>
      </p:sp>
      <p:sp>
        <p:nvSpPr>
          <p:cNvPr id="39" name="Straight Connector 8"/>
          <p:cNvSpPr/>
          <p:nvPr/>
        </p:nvSpPr>
        <p:spPr>
          <a:xfrm>
            <a:off x="1207657" y="4343400"/>
            <a:ext cx="9875521" cy="0"/>
          </a:xfrm>
          <a:prstGeom prst="line">
            <a:avLst/>
          </a:prstGeom>
          <a:ln w="6350">
            <a:solidFill>
              <a:srgbClr val="808080"/>
            </a:solidFill>
          </a:ln>
        </p:spPr>
        <p:txBody>
          <a:bodyPr lIns="0" tIns="0" rIns="0" bIns="0"/>
          <a:lstStyle/>
          <a:p>
            <a:pP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47" name="Title Text"/>
          <p:cNvSpPr txBox="1"/>
          <p:nvPr>
            <p:ph type="title"/>
          </p:nvPr>
        </p:nvSpPr>
        <p:spPr>
          <a:prstGeom prst="rect">
            <a:avLst/>
          </a:prstGeom>
        </p:spPr>
        <p:txBody>
          <a:bodyPr/>
          <a:lstStyle/>
          <a:p>
            <a:pPr/>
            <a:r>
              <a:t>Title Text</a:t>
            </a:r>
          </a:p>
        </p:txBody>
      </p:sp>
      <p:sp>
        <p:nvSpPr>
          <p:cNvPr id="48" name="Body Level One…"/>
          <p:cNvSpPr txBox="1"/>
          <p:nvPr>
            <p:ph type="body" sz="half" idx="1"/>
          </p:nvPr>
        </p:nvSpPr>
        <p:spPr>
          <a:xfrm>
            <a:off x="1097278" y="1845734"/>
            <a:ext cx="4937761" cy="402336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56" name="Title Text"/>
          <p:cNvSpPr txBox="1"/>
          <p:nvPr>
            <p:ph type="title"/>
          </p:nvPr>
        </p:nvSpPr>
        <p:spPr>
          <a:prstGeom prst="rect">
            <a:avLst/>
          </a:prstGeom>
        </p:spPr>
        <p:txBody>
          <a:bodyPr/>
          <a:lstStyle/>
          <a:p>
            <a:pPr/>
            <a:r>
              <a:t>Title Text</a:t>
            </a:r>
          </a:p>
        </p:txBody>
      </p:sp>
      <p:sp>
        <p:nvSpPr>
          <p:cNvPr id="57" name="Body Level One…"/>
          <p:cNvSpPr txBox="1"/>
          <p:nvPr>
            <p:ph type="body" sz="quarter" idx="1"/>
          </p:nvPr>
        </p:nvSpPr>
        <p:spPr>
          <a:xfrm>
            <a:off x="1097280" y="1846052"/>
            <a:ext cx="4937760" cy="736283"/>
          </a:xfrm>
          <a:prstGeom prst="rect">
            <a:avLst/>
          </a:prstGeom>
        </p:spPr>
        <p:txBody>
          <a:bodyPr lIns="45719" tIns="45719" rIns="45719" bIns="45719" anchor="ctr"/>
          <a:lstStyle>
            <a:lvl1pPr marL="0" indent="0">
              <a:buClrTx/>
              <a:buSzTx/>
              <a:buFontTx/>
              <a:buNone/>
              <a:defRPr cap="all">
                <a:solidFill>
                  <a:srgbClr val="637052"/>
                </a:solidFill>
              </a:defRPr>
            </a:lvl1pPr>
            <a:lvl2pPr marL="0" indent="457200">
              <a:buClrTx/>
              <a:buSzTx/>
              <a:buFontTx/>
              <a:buNone/>
              <a:defRPr cap="all">
                <a:solidFill>
                  <a:srgbClr val="637052"/>
                </a:solidFill>
              </a:defRPr>
            </a:lvl2pPr>
            <a:lvl3pPr marL="0" indent="914400">
              <a:buClrTx/>
              <a:buSzTx/>
              <a:buFontTx/>
              <a:buNone/>
              <a:defRPr cap="all">
                <a:solidFill>
                  <a:srgbClr val="637052"/>
                </a:solidFill>
              </a:defRPr>
            </a:lvl3pPr>
            <a:lvl4pPr marL="0" indent="1371600">
              <a:buClrTx/>
              <a:buSzTx/>
              <a:buFontTx/>
              <a:buNone/>
              <a:defRPr cap="all">
                <a:solidFill>
                  <a:srgbClr val="637052"/>
                </a:solidFill>
              </a:defRPr>
            </a:lvl4pPr>
            <a:lvl5pPr marL="0" indent="1828800">
              <a:buClrTx/>
              <a:buSzTx/>
              <a:buFontTx/>
              <a:buNone/>
              <a:defRPr cap="all">
                <a:solidFill>
                  <a:srgbClr val="637052"/>
                </a:solidFill>
              </a:defRPr>
            </a:lvl5pPr>
          </a:lstStyle>
          <a:p>
            <a:pPr/>
            <a:r>
              <a:t>Body Level One</a:t>
            </a:r>
          </a:p>
          <a:p>
            <a:pPr lvl="1"/>
            <a:r>
              <a:t>Body Level Two</a:t>
            </a:r>
          </a:p>
          <a:p>
            <a:pPr lvl="2"/>
            <a:r>
              <a:t>Body Level Three</a:t>
            </a:r>
          </a:p>
          <a:p>
            <a:pPr lvl="3"/>
            <a:r>
              <a:t>Body Level Four</a:t>
            </a:r>
          </a:p>
          <a:p>
            <a:pPr lvl="4"/>
            <a:r>
              <a:t>Body Level Five</a:t>
            </a:r>
          </a:p>
        </p:txBody>
      </p:sp>
      <p:sp>
        <p:nvSpPr>
          <p:cNvPr id="58" name="Text Placeholder 4"/>
          <p:cNvSpPr/>
          <p:nvPr>
            <p:ph type="body" sz="quarter" idx="21"/>
          </p:nvPr>
        </p:nvSpPr>
        <p:spPr>
          <a:xfrm>
            <a:off x="6217919" y="1846052"/>
            <a:ext cx="4937762" cy="736283"/>
          </a:xfrm>
          <a:prstGeom prst="rect">
            <a:avLst/>
          </a:prstGeom>
        </p:spPr>
        <p:txBody>
          <a:bodyPr lIns="45719" tIns="45719" rIns="45719" bIns="45719" anchor="ctr"/>
          <a:lstStyle/>
          <a:p>
            <a:pPr marL="0" indent="0">
              <a:buClrTx/>
              <a:buSzTx/>
              <a:buFontTx/>
              <a:buNone/>
              <a:defRPr cap="all">
                <a:solidFill>
                  <a:srgbClr val="637052"/>
                </a:solidFill>
              </a:defRPr>
            </a:pPr>
          </a:p>
        </p:txBody>
      </p:sp>
      <p:sp>
        <p:nvSpPr>
          <p:cNvPr id="5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66" name="Title Text"/>
          <p:cNvSpPr txBox="1"/>
          <p:nvPr>
            <p:ph type="title"/>
          </p:nvPr>
        </p:nvSpPr>
        <p:spPr>
          <a:prstGeom prst="rect">
            <a:avLst/>
          </a:prstGeom>
        </p:spPr>
        <p:txBody>
          <a:bodyPr/>
          <a:lstStyle/>
          <a:p>
            <a:pPr/>
            <a:r>
              <a:t>Title Text</a:t>
            </a:r>
          </a:p>
        </p:txBody>
      </p:sp>
      <p:sp>
        <p:nvSpPr>
          <p:cNvPr id="6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spTree>
      <p:nvGrpSpPr>
        <p:cNvPr id="1" name=""/>
        <p:cNvGrpSpPr/>
        <p:nvPr/>
      </p:nvGrpSpPr>
      <p:grpSpPr>
        <a:xfrm>
          <a:off x="0" y="0"/>
          <a:ext cx="0" cy="0"/>
          <a:chOff x="0" y="0"/>
          <a:chExt cx="0" cy="0"/>
        </a:xfrm>
      </p:grpSpPr>
      <p:sp>
        <p:nvSpPr>
          <p:cNvPr id="74" name="Rectangle 4"/>
          <p:cNvSpPr/>
          <p:nvPr/>
        </p:nvSpPr>
        <p:spPr>
          <a:xfrm>
            <a:off x="3175" y="6400800"/>
            <a:ext cx="12188825" cy="457200"/>
          </a:xfrm>
          <a:prstGeom prst="rect">
            <a:avLst/>
          </a:prstGeom>
          <a:solidFill>
            <a:schemeClr val="accent2"/>
          </a:solidFill>
          <a:ln w="12700">
            <a:miter lim="400000"/>
          </a:ln>
        </p:spPr>
        <p:txBody>
          <a:bodyPr lIns="0" tIns="0" rIns="0" bIns="0"/>
          <a:lstStyle/>
          <a:p>
            <a:pPr/>
          </a:p>
        </p:txBody>
      </p:sp>
      <p:sp>
        <p:nvSpPr>
          <p:cNvPr id="75" name="Rectangle 5"/>
          <p:cNvSpPr/>
          <p:nvPr/>
        </p:nvSpPr>
        <p:spPr>
          <a:xfrm>
            <a:off x="14" y="6334316"/>
            <a:ext cx="12188826" cy="64009"/>
          </a:xfrm>
          <a:prstGeom prst="rect">
            <a:avLst/>
          </a:prstGeom>
          <a:solidFill>
            <a:schemeClr val="accent1"/>
          </a:solidFill>
          <a:ln w="12700">
            <a:miter lim="400000"/>
          </a:ln>
        </p:spPr>
        <p:txBody>
          <a:bodyPr lIns="0" tIns="0" rIns="0" bIns="0"/>
          <a:lstStyle/>
          <a:p>
            <a:pPr/>
          </a:p>
        </p:txBody>
      </p:sp>
      <p:sp>
        <p:nvSpPr>
          <p:cNvPr id="7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ntent with Caption">
    <p:spTree>
      <p:nvGrpSpPr>
        <p:cNvPr id="1" name=""/>
        <p:cNvGrpSpPr/>
        <p:nvPr/>
      </p:nvGrpSpPr>
      <p:grpSpPr>
        <a:xfrm>
          <a:off x="0" y="0"/>
          <a:ext cx="0" cy="0"/>
          <a:chOff x="0" y="0"/>
          <a:chExt cx="0" cy="0"/>
        </a:xfrm>
      </p:grpSpPr>
      <p:sp>
        <p:nvSpPr>
          <p:cNvPr id="83" name="Rectangle 7"/>
          <p:cNvSpPr/>
          <p:nvPr/>
        </p:nvSpPr>
        <p:spPr>
          <a:xfrm>
            <a:off x="15" y="0"/>
            <a:ext cx="4050793" cy="6858000"/>
          </a:xfrm>
          <a:prstGeom prst="rect">
            <a:avLst/>
          </a:prstGeom>
          <a:solidFill>
            <a:schemeClr val="accent2"/>
          </a:solidFill>
          <a:ln w="12700">
            <a:miter lim="400000"/>
          </a:ln>
        </p:spPr>
        <p:txBody>
          <a:bodyPr lIns="0" tIns="0" rIns="0" bIns="0"/>
          <a:lstStyle/>
          <a:p>
            <a:pPr/>
          </a:p>
        </p:txBody>
      </p:sp>
      <p:sp>
        <p:nvSpPr>
          <p:cNvPr id="84" name="Rectangle 8"/>
          <p:cNvSpPr/>
          <p:nvPr/>
        </p:nvSpPr>
        <p:spPr>
          <a:xfrm>
            <a:off x="4040070" y="0"/>
            <a:ext cx="64009" cy="6858000"/>
          </a:xfrm>
          <a:prstGeom prst="rect">
            <a:avLst/>
          </a:prstGeom>
          <a:solidFill>
            <a:schemeClr val="accent1"/>
          </a:solidFill>
          <a:ln w="12700">
            <a:miter lim="400000"/>
          </a:ln>
        </p:spPr>
        <p:txBody>
          <a:bodyPr lIns="0" tIns="0" rIns="0" bIns="0"/>
          <a:lstStyle/>
          <a:p>
            <a:pPr/>
          </a:p>
        </p:txBody>
      </p:sp>
      <p:sp>
        <p:nvSpPr>
          <p:cNvPr id="85" name="Title Text"/>
          <p:cNvSpPr txBox="1"/>
          <p:nvPr>
            <p:ph type="title"/>
          </p:nvPr>
        </p:nvSpPr>
        <p:spPr>
          <a:xfrm>
            <a:off x="457200" y="594359"/>
            <a:ext cx="3200400" cy="2286001"/>
          </a:xfrm>
          <a:prstGeom prst="rect">
            <a:avLst/>
          </a:prstGeom>
        </p:spPr>
        <p:txBody>
          <a:bodyPr/>
          <a:lstStyle>
            <a:lvl1pPr>
              <a:defRPr sz="3600">
                <a:solidFill>
                  <a:srgbClr val="FFFFFF"/>
                </a:solidFill>
              </a:defRPr>
            </a:lvl1pPr>
          </a:lstStyle>
          <a:p>
            <a:pPr/>
            <a:r>
              <a:t>Title Text</a:t>
            </a:r>
          </a:p>
        </p:txBody>
      </p:sp>
      <p:sp>
        <p:nvSpPr>
          <p:cNvPr id="86" name="Body Level One…"/>
          <p:cNvSpPr txBox="1"/>
          <p:nvPr>
            <p:ph type="body" idx="1"/>
          </p:nvPr>
        </p:nvSpPr>
        <p:spPr>
          <a:xfrm>
            <a:off x="4800600" y="731519"/>
            <a:ext cx="6492241" cy="525780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87" name="Text Placeholder 3"/>
          <p:cNvSpPr/>
          <p:nvPr>
            <p:ph type="body" sz="quarter" idx="21"/>
          </p:nvPr>
        </p:nvSpPr>
        <p:spPr>
          <a:xfrm>
            <a:off x="457200" y="2926079"/>
            <a:ext cx="3200400" cy="3379125"/>
          </a:xfrm>
          <a:prstGeom prst="rect">
            <a:avLst/>
          </a:prstGeom>
        </p:spPr>
        <p:txBody>
          <a:bodyPr lIns="45719" tIns="45719" rIns="45719" bIns="45719"/>
          <a:lstStyle/>
          <a:p>
            <a:pPr marL="0" indent="0">
              <a:buClrTx/>
              <a:buSzTx/>
              <a:buFontTx/>
              <a:buNone/>
              <a:defRPr sz="1500">
                <a:solidFill>
                  <a:srgbClr val="FFFFFF"/>
                </a:solidFill>
              </a:defRPr>
            </a:pPr>
          </a:p>
        </p:txBody>
      </p:sp>
      <p:sp>
        <p:nvSpPr>
          <p:cNvPr id="88" name="Slide Number"/>
          <p:cNvSpPr txBox="1"/>
          <p:nvPr>
            <p:ph type="sldNum" sz="quarter" idx="2"/>
          </p:nvPr>
        </p:nvSpPr>
        <p:spPr>
          <a:prstGeom prst="rect">
            <a:avLst/>
          </a:prstGeom>
        </p:spPr>
        <p:txBody>
          <a:bodyPr/>
          <a:lstStyle>
            <a:lvl1pPr>
              <a:defRPr>
                <a:solidFill>
                  <a:srgbClr val="637052"/>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icture with Caption">
    <p:spTree>
      <p:nvGrpSpPr>
        <p:cNvPr id="1" name=""/>
        <p:cNvGrpSpPr/>
        <p:nvPr/>
      </p:nvGrpSpPr>
      <p:grpSpPr>
        <a:xfrm>
          <a:off x="0" y="0"/>
          <a:ext cx="0" cy="0"/>
          <a:chOff x="0" y="0"/>
          <a:chExt cx="0" cy="0"/>
        </a:xfrm>
      </p:grpSpPr>
      <p:sp>
        <p:nvSpPr>
          <p:cNvPr id="95" name="Rectangle 7"/>
          <p:cNvSpPr/>
          <p:nvPr/>
        </p:nvSpPr>
        <p:spPr>
          <a:xfrm>
            <a:off x="0" y="4953000"/>
            <a:ext cx="12188825" cy="1905000"/>
          </a:xfrm>
          <a:prstGeom prst="rect">
            <a:avLst/>
          </a:prstGeom>
          <a:solidFill>
            <a:schemeClr val="accent2"/>
          </a:solidFill>
          <a:ln w="12700">
            <a:miter lim="400000"/>
          </a:ln>
        </p:spPr>
        <p:txBody>
          <a:bodyPr lIns="0" tIns="0" rIns="0" bIns="0"/>
          <a:lstStyle/>
          <a:p>
            <a:pPr/>
          </a:p>
        </p:txBody>
      </p:sp>
      <p:sp>
        <p:nvSpPr>
          <p:cNvPr id="96" name="Rectangle 8"/>
          <p:cNvSpPr/>
          <p:nvPr/>
        </p:nvSpPr>
        <p:spPr>
          <a:xfrm>
            <a:off x="14" y="4915075"/>
            <a:ext cx="12188826" cy="64009"/>
          </a:xfrm>
          <a:prstGeom prst="rect">
            <a:avLst/>
          </a:prstGeom>
          <a:solidFill>
            <a:schemeClr val="accent1"/>
          </a:solidFill>
          <a:ln w="12700">
            <a:miter lim="400000"/>
          </a:ln>
        </p:spPr>
        <p:txBody>
          <a:bodyPr lIns="0" tIns="0" rIns="0" bIns="0"/>
          <a:lstStyle/>
          <a:p>
            <a:pPr/>
          </a:p>
        </p:txBody>
      </p:sp>
      <p:sp>
        <p:nvSpPr>
          <p:cNvPr id="97" name="Title Text"/>
          <p:cNvSpPr txBox="1"/>
          <p:nvPr>
            <p:ph type="title"/>
          </p:nvPr>
        </p:nvSpPr>
        <p:spPr>
          <a:xfrm>
            <a:off x="1097280" y="5074920"/>
            <a:ext cx="10113265" cy="822961"/>
          </a:xfrm>
          <a:prstGeom prst="rect">
            <a:avLst/>
          </a:prstGeom>
        </p:spPr>
        <p:txBody>
          <a:bodyPr lIns="0" tIns="0" rIns="0" bIns="0"/>
          <a:lstStyle>
            <a:lvl1pPr>
              <a:defRPr sz="3600">
                <a:solidFill>
                  <a:srgbClr val="FFFFFF"/>
                </a:solidFill>
              </a:defRPr>
            </a:lvl1pPr>
          </a:lstStyle>
          <a:p>
            <a:pPr/>
            <a:r>
              <a:t>Title Text</a:t>
            </a:r>
          </a:p>
        </p:txBody>
      </p:sp>
      <p:sp>
        <p:nvSpPr>
          <p:cNvPr id="98" name="Picture Placeholder 2"/>
          <p:cNvSpPr/>
          <p:nvPr>
            <p:ph type="pic" idx="21"/>
          </p:nvPr>
        </p:nvSpPr>
        <p:spPr>
          <a:xfrm>
            <a:off x="14" y="0"/>
            <a:ext cx="12191987" cy="4915076"/>
          </a:xfrm>
          <a:prstGeom prst="rect">
            <a:avLst/>
          </a:prstGeom>
        </p:spPr>
        <p:txBody>
          <a:bodyPr lIns="91439" tIns="45719" rIns="91439" bIns="45719">
            <a:noAutofit/>
          </a:bodyPr>
          <a:lstStyle/>
          <a:p>
            <a:pPr/>
          </a:p>
        </p:txBody>
      </p:sp>
      <p:sp>
        <p:nvSpPr>
          <p:cNvPr id="99" name="Body Level One…"/>
          <p:cNvSpPr txBox="1"/>
          <p:nvPr>
            <p:ph type="body" sz="quarter" idx="1"/>
          </p:nvPr>
        </p:nvSpPr>
        <p:spPr>
          <a:xfrm>
            <a:off x="1097280" y="5907023"/>
            <a:ext cx="10113265" cy="594361"/>
          </a:xfrm>
          <a:prstGeom prst="rect">
            <a:avLst/>
          </a:prstGeom>
        </p:spPr>
        <p:txBody>
          <a:bodyPr/>
          <a:lstStyle>
            <a:lvl1pPr marL="0" indent="0">
              <a:spcBef>
                <a:spcPts val="600"/>
              </a:spcBef>
              <a:buClrTx/>
              <a:buSzTx/>
              <a:buFontTx/>
              <a:buNone/>
              <a:defRPr sz="1500">
                <a:solidFill>
                  <a:srgbClr val="FFFFFF"/>
                </a:solidFill>
              </a:defRPr>
            </a:lvl1pPr>
            <a:lvl2pPr marL="0" indent="457200">
              <a:spcBef>
                <a:spcPts val="600"/>
              </a:spcBef>
              <a:buClrTx/>
              <a:buSzTx/>
              <a:buFontTx/>
              <a:buNone/>
              <a:defRPr sz="1500">
                <a:solidFill>
                  <a:srgbClr val="FFFFFF"/>
                </a:solidFill>
              </a:defRPr>
            </a:lvl2pPr>
            <a:lvl3pPr marL="0" indent="914400">
              <a:spcBef>
                <a:spcPts val="600"/>
              </a:spcBef>
              <a:buClrTx/>
              <a:buSzTx/>
              <a:buFontTx/>
              <a:buNone/>
              <a:defRPr sz="1500">
                <a:solidFill>
                  <a:srgbClr val="FFFFFF"/>
                </a:solidFill>
              </a:defRPr>
            </a:lvl3pPr>
            <a:lvl4pPr marL="0" indent="1371600">
              <a:spcBef>
                <a:spcPts val="600"/>
              </a:spcBef>
              <a:buClrTx/>
              <a:buSzTx/>
              <a:buFontTx/>
              <a:buNone/>
              <a:defRPr sz="1500">
                <a:solidFill>
                  <a:srgbClr val="FFFFFF"/>
                </a:solidFill>
              </a:defRPr>
            </a:lvl4pPr>
            <a:lvl5pPr marL="0" indent="1828800">
              <a:spcBef>
                <a:spcPts val="600"/>
              </a:spcBef>
              <a:buClrTx/>
              <a:buSzTx/>
              <a:buFontTx/>
              <a:buNone/>
              <a:defRPr sz="1500">
                <a:solidFill>
                  <a:srgbClr val="FFFFFF"/>
                </a:solidFill>
              </a:defRPr>
            </a:lvl5pPr>
          </a:lstStyle>
          <a:p>
            <a:pPr/>
            <a:r>
              <a:t>Body Level One</a:t>
            </a:r>
          </a:p>
          <a:p>
            <a:pPr lvl="1"/>
            <a:r>
              <a:t>Body Level Two</a:t>
            </a:r>
          </a:p>
          <a:p>
            <a:pPr lvl="2"/>
            <a:r>
              <a:t>Body Level Three</a:t>
            </a:r>
          </a:p>
          <a:p>
            <a:pPr lvl="3"/>
            <a:r>
              <a:t>Body Level Four</a:t>
            </a:r>
          </a:p>
          <a:p>
            <a:pPr lvl="4"/>
            <a:r>
              <a:t>Body Level Five</a:t>
            </a:r>
          </a:p>
        </p:txBody>
      </p:sp>
      <p:sp>
        <p:nvSpPr>
          <p:cNvPr id="10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Rectangle 6"/>
          <p:cNvSpPr/>
          <p:nvPr/>
        </p:nvSpPr>
        <p:spPr>
          <a:xfrm>
            <a:off x="1" y="6400800"/>
            <a:ext cx="12192001" cy="457200"/>
          </a:xfrm>
          <a:prstGeom prst="rect">
            <a:avLst/>
          </a:prstGeom>
          <a:solidFill>
            <a:schemeClr val="accent2"/>
          </a:solidFill>
          <a:ln w="12700">
            <a:miter lim="400000"/>
          </a:ln>
        </p:spPr>
        <p:txBody>
          <a:bodyPr lIns="0" tIns="0" rIns="0" bIns="0"/>
          <a:lstStyle/>
          <a:p>
            <a:pPr/>
          </a:p>
        </p:txBody>
      </p:sp>
      <p:sp>
        <p:nvSpPr>
          <p:cNvPr id="3" name="Rectangle 8"/>
          <p:cNvSpPr/>
          <p:nvPr/>
        </p:nvSpPr>
        <p:spPr>
          <a:xfrm>
            <a:off x="-1" y="6334316"/>
            <a:ext cx="12192003" cy="65999"/>
          </a:xfrm>
          <a:prstGeom prst="rect">
            <a:avLst/>
          </a:prstGeom>
          <a:solidFill>
            <a:schemeClr val="accent1"/>
          </a:solidFill>
          <a:ln w="12700">
            <a:miter lim="400000"/>
          </a:ln>
        </p:spPr>
        <p:txBody>
          <a:bodyPr lIns="0" tIns="0" rIns="0" bIns="0"/>
          <a:lstStyle/>
          <a:p>
            <a:pPr/>
          </a:p>
        </p:txBody>
      </p:sp>
      <p:sp>
        <p:nvSpPr>
          <p:cNvPr id="4" name="Straight Connector 9"/>
          <p:cNvSpPr/>
          <p:nvPr/>
        </p:nvSpPr>
        <p:spPr>
          <a:xfrm>
            <a:off x="1193532" y="1737845"/>
            <a:ext cx="9966961" cy="1"/>
          </a:xfrm>
          <a:prstGeom prst="line">
            <a:avLst/>
          </a:prstGeom>
          <a:ln w="6350">
            <a:solidFill>
              <a:srgbClr val="808080"/>
            </a:solidFill>
          </a:ln>
        </p:spPr>
        <p:txBody>
          <a:bodyPr lIns="0" tIns="0" rIns="0" bIns="0"/>
          <a:lstStyle/>
          <a:p>
            <a:pPr/>
          </a:p>
        </p:txBody>
      </p:sp>
      <p:sp>
        <p:nvSpPr>
          <p:cNvPr id="5" name="Title Text"/>
          <p:cNvSpPr txBox="1"/>
          <p:nvPr>
            <p:ph type="title"/>
          </p:nvPr>
        </p:nvSpPr>
        <p:spPr>
          <a:xfrm>
            <a:off x="1097280" y="286603"/>
            <a:ext cx="10058401" cy="1450757"/>
          </a:xfrm>
          <a:prstGeom prst="rect">
            <a:avLst/>
          </a:prstGeom>
          <a:ln w="12700">
            <a:miter lim="400000"/>
          </a:ln>
          <a:extLst>
            <a:ext uri="{C572A759-6A51-4108-AA02-DFA0A04FC94B}">
              <ma14:wrappingTextBoxFlag xmlns:ma14="http://schemas.microsoft.com/office/mac/drawingml/2011/main" val="1"/>
            </a:ext>
          </a:extLst>
        </p:spPr>
        <p:txBody>
          <a:bodyPr lIns="45719" rIns="45719" anchor="b">
            <a:normAutofit fontScale="100000" lnSpcReduction="0"/>
          </a:bodyPr>
          <a:lstStyle/>
          <a:p>
            <a:pPr/>
            <a:r>
              <a:t>Title Text</a:t>
            </a:r>
          </a:p>
        </p:txBody>
      </p:sp>
      <p:sp>
        <p:nvSpPr>
          <p:cNvPr id="6" name="Body Level One…"/>
          <p:cNvSpPr txBox="1"/>
          <p:nvPr>
            <p:ph type="body" idx="1"/>
          </p:nvPr>
        </p:nvSpPr>
        <p:spPr>
          <a:xfrm>
            <a:off x="609600" y="1600200"/>
            <a:ext cx="10972800" cy="4525963"/>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7" name="Slide Number"/>
          <p:cNvSpPr txBox="1"/>
          <p:nvPr>
            <p:ph type="sldNum" sz="quarter" idx="2"/>
          </p:nvPr>
        </p:nvSpPr>
        <p:spPr>
          <a:xfrm>
            <a:off x="10979606" y="6528092"/>
            <a:ext cx="232877" cy="228512"/>
          </a:xfrm>
          <a:prstGeom prst="rect">
            <a:avLst/>
          </a:prstGeom>
          <a:ln w="12700">
            <a:miter lim="400000"/>
          </a:ln>
        </p:spPr>
        <p:txBody>
          <a:bodyPr wrap="none" lIns="45719" rIns="45719" anchor="ctr">
            <a:spAutoFit/>
          </a:bodyPr>
          <a:lstStyle>
            <a:lvl1pPr algn="r">
              <a:defRPr sz="1000">
                <a:solidFill>
                  <a:srgbClr val="FFFFFF"/>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l" defTabSz="914400" rtl="0" latinLnBrk="0">
        <a:lnSpc>
          <a:spcPct val="85000"/>
        </a:lnSpc>
        <a:spcBef>
          <a:spcPts val="0"/>
        </a:spcBef>
        <a:spcAft>
          <a:spcPts val="0"/>
        </a:spcAft>
        <a:buClrTx/>
        <a:buSzTx/>
        <a:buFontTx/>
        <a:buNone/>
        <a:tabLst/>
        <a:defRPr b="0" baseline="0" cap="none" i="0" spc="-50" strike="noStrike" sz="4800" u="none">
          <a:solidFill>
            <a:srgbClr val="404040"/>
          </a:solidFill>
          <a:uFillTx/>
          <a:latin typeface="Calibri Light"/>
          <a:ea typeface="Calibri Light"/>
          <a:cs typeface="Calibri Light"/>
          <a:sym typeface="Calibri Light"/>
        </a:defRPr>
      </a:lvl1pPr>
      <a:lvl2pPr marL="0" marR="0" indent="0" algn="l" defTabSz="914400" rtl="0" latinLnBrk="0">
        <a:lnSpc>
          <a:spcPct val="85000"/>
        </a:lnSpc>
        <a:spcBef>
          <a:spcPts val="0"/>
        </a:spcBef>
        <a:spcAft>
          <a:spcPts val="0"/>
        </a:spcAft>
        <a:buClrTx/>
        <a:buSzTx/>
        <a:buFontTx/>
        <a:buNone/>
        <a:tabLst/>
        <a:defRPr b="0" baseline="0" cap="none" i="0" spc="-50" strike="noStrike" sz="4800" u="none">
          <a:solidFill>
            <a:srgbClr val="404040"/>
          </a:solidFill>
          <a:uFillTx/>
          <a:latin typeface="Calibri Light"/>
          <a:ea typeface="Calibri Light"/>
          <a:cs typeface="Calibri Light"/>
          <a:sym typeface="Calibri Light"/>
        </a:defRPr>
      </a:lvl2pPr>
      <a:lvl3pPr marL="0" marR="0" indent="0" algn="l" defTabSz="914400" rtl="0" latinLnBrk="0">
        <a:lnSpc>
          <a:spcPct val="85000"/>
        </a:lnSpc>
        <a:spcBef>
          <a:spcPts val="0"/>
        </a:spcBef>
        <a:spcAft>
          <a:spcPts val="0"/>
        </a:spcAft>
        <a:buClrTx/>
        <a:buSzTx/>
        <a:buFontTx/>
        <a:buNone/>
        <a:tabLst/>
        <a:defRPr b="0" baseline="0" cap="none" i="0" spc="-50" strike="noStrike" sz="4800" u="none">
          <a:solidFill>
            <a:srgbClr val="404040"/>
          </a:solidFill>
          <a:uFillTx/>
          <a:latin typeface="Calibri Light"/>
          <a:ea typeface="Calibri Light"/>
          <a:cs typeface="Calibri Light"/>
          <a:sym typeface="Calibri Light"/>
        </a:defRPr>
      </a:lvl3pPr>
      <a:lvl4pPr marL="0" marR="0" indent="0" algn="l" defTabSz="914400" rtl="0" latinLnBrk="0">
        <a:lnSpc>
          <a:spcPct val="85000"/>
        </a:lnSpc>
        <a:spcBef>
          <a:spcPts val="0"/>
        </a:spcBef>
        <a:spcAft>
          <a:spcPts val="0"/>
        </a:spcAft>
        <a:buClrTx/>
        <a:buSzTx/>
        <a:buFontTx/>
        <a:buNone/>
        <a:tabLst/>
        <a:defRPr b="0" baseline="0" cap="none" i="0" spc="-50" strike="noStrike" sz="4800" u="none">
          <a:solidFill>
            <a:srgbClr val="404040"/>
          </a:solidFill>
          <a:uFillTx/>
          <a:latin typeface="Calibri Light"/>
          <a:ea typeface="Calibri Light"/>
          <a:cs typeface="Calibri Light"/>
          <a:sym typeface="Calibri Light"/>
        </a:defRPr>
      </a:lvl4pPr>
      <a:lvl5pPr marL="0" marR="0" indent="0" algn="l" defTabSz="914400" rtl="0" latinLnBrk="0">
        <a:lnSpc>
          <a:spcPct val="85000"/>
        </a:lnSpc>
        <a:spcBef>
          <a:spcPts val="0"/>
        </a:spcBef>
        <a:spcAft>
          <a:spcPts val="0"/>
        </a:spcAft>
        <a:buClrTx/>
        <a:buSzTx/>
        <a:buFontTx/>
        <a:buNone/>
        <a:tabLst/>
        <a:defRPr b="0" baseline="0" cap="none" i="0" spc="-50" strike="noStrike" sz="4800" u="none">
          <a:solidFill>
            <a:srgbClr val="404040"/>
          </a:solidFill>
          <a:uFillTx/>
          <a:latin typeface="Calibri Light"/>
          <a:ea typeface="Calibri Light"/>
          <a:cs typeface="Calibri Light"/>
          <a:sym typeface="Calibri Light"/>
        </a:defRPr>
      </a:lvl5pPr>
      <a:lvl6pPr marL="0" marR="0" indent="0" algn="l" defTabSz="914400" rtl="0" latinLnBrk="0">
        <a:lnSpc>
          <a:spcPct val="85000"/>
        </a:lnSpc>
        <a:spcBef>
          <a:spcPts val="0"/>
        </a:spcBef>
        <a:spcAft>
          <a:spcPts val="0"/>
        </a:spcAft>
        <a:buClrTx/>
        <a:buSzTx/>
        <a:buFontTx/>
        <a:buNone/>
        <a:tabLst/>
        <a:defRPr b="0" baseline="0" cap="none" i="0" spc="-50" strike="noStrike" sz="4800" u="none">
          <a:solidFill>
            <a:srgbClr val="404040"/>
          </a:solidFill>
          <a:uFillTx/>
          <a:latin typeface="Calibri Light"/>
          <a:ea typeface="Calibri Light"/>
          <a:cs typeface="Calibri Light"/>
          <a:sym typeface="Calibri Light"/>
        </a:defRPr>
      </a:lvl6pPr>
      <a:lvl7pPr marL="0" marR="0" indent="0" algn="l" defTabSz="914400" rtl="0" latinLnBrk="0">
        <a:lnSpc>
          <a:spcPct val="85000"/>
        </a:lnSpc>
        <a:spcBef>
          <a:spcPts val="0"/>
        </a:spcBef>
        <a:spcAft>
          <a:spcPts val="0"/>
        </a:spcAft>
        <a:buClrTx/>
        <a:buSzTx/>
        <a:buFontTx/>
        <a:buNone/>
        <a:tabLst/>
        <a:defRPr b="0" baseline="0" cap="none" i="0" spc="-50" strike="noStrike" sz="4800" u="none">
          <a:solidFill>
            <a:srgbClr val="404040"/>
          </a:solidFill>
          <a:uFillTx/>
          <a:latin typeface="Calibri Light"/>
          <a:ea typeface="Calibri Light"/>
          <a:cs typeface="Calibri Light"/>
          <a:sym typeface="Calibri Light"/>
        </a:defRPr>
      </a:lvl7pPr>
      <a:lvl8pPr marL="0" marR="0" indent="0" algn="l" defTabSz="914400" rtl="0" latinLnBrk="0">
        <a:lnSpc>
          <a:spcPct val="85000"/>
        </a:lnSpc>
        <a:spcBef>
          <a:spcPts val="0"/>
        </a:spcBef>
        <a:spcAft>
          <a:spcPts val="0"/>
        </a:spcAft>
        <a:buClrTx/>
        <a:buSzTx/>
        <a:buFontTx/>
        <a:buNone/>
        <a:tabLst/>
        <a:defRPr b="0" baseline="0" cap="none" i="0" spc="-50" strike="noStrike" sz="4800" u="none">
          <a:solidFill>
            <a:srgbClr val="404040"/>
          </a:solidFill>
          <a:uFillTx/>
          <a:latin typeface="Calibri Light"/>
          <a:ea typeface="Calibri Light"/>
          <a:cs typeface="Calibri Light"/>
          <a:sym typeface="Calibri Light"/>
        </a:defRPr>
      </a:lvl8pPr>
      <a:lvl9pPr marL="0" marR="0" indent="0" algn="l" defTabSz="914400" rtl="0" latinLnBrk="0">
        <a:lnSpc>
          <a:spcPct val="85000"/>
        </a:lnSpc>
        <a:spcBef>
          <a:spcPts val="0"/>
        </a:spcBef>
        <a:spcAft>
          <a:spcPts val="0"/>
        </a:spcAft>
        <a:buClrTx/>
        <a:buSzTx/>
        <a:buFontTx/>
        <a:buNone/>
        <a:tabLst/>
        <a:defRPr b="0" baseline="0" cap="none" i="0" spc="-50" strike="noStrike" sz="4800" u="none">
          <a:solidFill>
            <a:srgbClr val="404040"/>
          </a:solidFill>
          <a:uFillTx/>
          <a:latin typeface="Calibri Light"/>
          <a:ea typeface="Calibri Light"/>
          <a:cs typeface="Calibri Light"/>
          <a:sym typeface="Calibri Light"/>
        </a:defRPr>
      </a:lvl9pPr>
    </p:titleStyle>
    <p:bodyStyle>
      <a:lvl1pPr marL="91439" marR="0" indent="-91439" algn="l" defTabSz="914400" rtl="0" latinLnBrk="0">
        <a:lnSpc>
          <a:spcPct val="90000"/>
        </a:lnSpc>
        <a:spcBef>
          <a:spcPts val="1200"/>
        </a:spcBef>
        <a:spcAft>
          <a:spcPts val="0"/>
        </a:spcAft>
        <a:buClr>
          <a:schemeClr val="accent1"/>
        </a:buClr>
        <a:buSzPct val="100000"/>
        <a:buFont typeface="Calibri"/>
        <a:buChar char=" "/>
        <a:tabLst/>
        <a:defRPr b="0" baseline="0" cap="none" i="0" spc="0" strike="noStrike" sz="2000" u="none">
          <a:solidFill>
            <a:srgbClr val="404040"/>
          </a:solidFill>
          <a:uFillTx/>
          <a:latin typeface="+mj-lt"/>
          <a:ea typeface="+mj-ea"/>
          <a:cs typeface="+mj-cs"/>
          <a:sym typeface="Calibri"/>
        </a:defRPr>
      </a:lvl1pPr>
      <a:lvl2pPr marL="404494" marR="0" indent="-203199" algn="l" defTabSz="914400" rtl="0" latinLnBrk="0">
        <a:lnSpc>
          <a:spcPct val="90000"/>
        </a:lnSpc>
        <a:spcBef>
          <a:spcPts val="1200"/>
        </a:spcBef>
        <a:spcAft>
          <a:spcPts val="0"/>
        </a:spcAft>
        <a:buClr>
          <a:schemeClr val="accent1"/>
        </a:buClr>
        <a:buSzPct val="100000"/>
        <a:buFont typeface="Calibri"/>
        <a:buChar char="◦"/>
        <a:tabLst/>
        <a:defRPr b="0" baseline="0" cap="none" i="0" spc="0" strike="noStrike" sz="2000" u="none">
          <a:solidFill>
            <a:srgbClr val="404040"/>
          </a:solidFill>
          <a:uFillTx/>
          <a:latin typeface="+mj-lt"/>
          <a:ea typeface="+mj-ea"/>
          <a:cs typeface="+mj-cs"/>
          <a:sym typeface="Calibri"/>
        </a:defRPr>
      </a:lvl2pPr>
      <a:lvl3pPr marL="645432" marR="0" indent="-261257" algn="l" defTabSz="914400" rtl="0" latinLnBrk="0">
        <a:lnSpc>
          <a:spcPct val="90000"/>
        </a:lnSpc>
        <a:spcBef>
          <a:spcPts val="1200"/>
        </a:spcBef>
        <a:spcAft>
          <a:spcPts val="0"/>
        </a:spcAft>
        <a:buClr>
          <a:schemeClr val="accent1"/>
        </a:buClr>
        <a:buSzPct val="100000"/>
        <a:buFont typeface="Calibri"/>
        <a:buChar char="◦"/>
        <a:tabLst/>
        <a:defRPr b="0" baseline="0" cap="none" i="0" spc="0" strike="noStrike" sz="2000" u="none">
          <a:solidFill>
            <a:srgbClr val="404040"/>
          </a:solidFill>
          <a:uFillTx/>
          <a:latin typeface="+mj-lt"/>
          <a:ea typeface="+mj-ea"/>
          <a:cs typeface="+mj-cs"/>
          <a:sym typeface="Calibri"/>
        </a:defRPr>
      </a:lvl3pPr>
      <a:lvl4pPr marL="828312" marR="0" indent="-261257" algn="l" defTabSz="914400" rtl="0" latinLnBrk="0">
        <a:lnSpc>
          <a:spcPct val="90000"/>
        </a:lnSpc>
        <a:spcBef>
          <a:spcPts val="1200"/>
        </a:spcBef>
        <a:spcAft>
          <a:spcPts val="0"/>
        </a:spcAft>
        <a:buClr>
          <a:schemeClr val="accent1"/>
        </a:buClr>
        <a:buSzPct val="100000"/>
        <a:buFont typeface="Calibri"/>
        <a:buChar char="◦"/>
        <a:tabLst/>
        <a:defRPr b="0" baseline="0" cap="none" i="0" spc="0" strike="noStrike" sz="2000" u="none">
          <a:solidFill>
            <a:srgbClr val="404040"/>
          </a:solidFill>
          <a:uFillTx/>
          <a:latin typeface="+mj-lt"/>
          <a:ea typeface="+mj-ea"/>
          <a:cs typeface="+mj-cs"/>
          <a:sym typeface="Calibri"/>
        </a:defRPr>
      </a:lvl4pPr>
      <a:lvl5pPr marL="1011192" marR="0" indent="-261257" algn="l" defTabSz="914400" rtl="0" latinLnBrk="0">
        <a:lnSpc>
          <a:spcPct val="90000"/>
        </a:lnSpc>
        <a:spcBef>
          <a:spcPts val="1200"/>
        </a:spcBef>
        <a:spcAft>
          <a:spcPts val="0"/>
        </a:spcAft>
        <a:buClr>
          <a:schemeClr val="accent1"/>
        </a:buClr>
        <a:buSzPct val="100000"/>
        <a:buFont typeface="Calibri"/>
        <a:buChar char="◦"/>
        <a:tabLst/>
        <a:defRPr b="0" baseline="0" cap="none" i="0" spc="0" strike="noStrike" sz="2000" u="none">
          <a:solidFill>
            <a:srgbClr val="404040"/>
          </a:solidFill>
          <a:uFillTx/>
          <a:latin typeface="+mj-lt"/>
          <a:ea typeface="+mj-ea"/>
          <a:cs typeface="+mj-cs"/>
          <a:sym typeface="Calibri"/>
        </a:defRPr>
      </a:lvl5pPr>
      <a:lvl6pPr marL="1197791" marR="0" indent="-326571" algn="l" defTabSz="914400" rtl="0" latinLnBrk="0">
        <a:lnSpc>
          <a:spcPct val="90000"/>
        </a:lnSpc>
        <a:spcBef>
          <a:spcPts val="1200"/>
        </a:spcBef>
        <a:spcAft>
          <a:spcPts val="0"/>
        </a:spcAft>
        <a:buClr>
          <a:schemeClr val="accent1"/>
        </a:buClr>
        <a:buSzPct val="100000"/>
        <a:buFont typeface="Calibri"/>
        <a:buChar char="◦"/>
        <a:tabLst/>
        <a:defRPr b="0" baseline="0" cap="none" i="0" spc="0" strike="noStrike" sz="2000" u="none">
          <a:solidFill>
            <a:srgbClr val="404040"/>
          </a:solidFill>
          <a:uFillTx/>
          <a:latin typeface="+mj-lt"/>
          <a:ea typeface="+mj-ea"/>
          <a:cs typeface="+mj-cs"/>
          <a:sym typeface="Calibri"/>
        </a:defRPr>
      </a:lvl6pPr>
      <a:lvl7pPr marL="1397816" marR="0" indent="-326571" algn="l" defTabSz="914400" rtl="0" latinLnBrk="0">
        <a:lnSpc>
          <a:spcPct val="90000"/>
        </a:lnSpc>
        <a:spcBef>
          <a:spcPts val="1200"/>
        </a:spcBef>
        <a:spcAft>
          <a:spcPts val="0"/>
        </a:spcAft>
        <a:buClr>
          <a:schemeClr val="accent1"/>
        </a:buClr>
        <a:buSzPct val="100000"/>
        <a:buFont typeface="Calibri"/>
        <a:buChar char="◦"/>
        <a:tabLst/>
        <a:defRPr b="0" baseline="0" cap="none" i="0" spc="0" strike="noStrike" sz="2000" u="none">
          <a:solidFill>
            <a:srgbClr val="404040"/>
          </a:solidFill>
          <a:uFillTx/>
          <a:latin typeface="+mj-lt"/>
          <a:ea typeface="+mj-ea"/>
          <a:cs typeface="+mj-cs"/>
          <a:sym typeface="Calibri"/>
        </a:defRPr>
      </a:lvl7pPr>
      <a:lvl8pPr marL="1597841" marR="0" indent="-326571" algn="l" defTabSz="914400" rtl="0" latinLnBrk="0">
        <a:lnSpc>
          <a:spcPct val="90000"/>
        </a:lnSpc>
        <a:spcBef>
          <a:spcPts val="1200"/>
        </a:spcBef>
        <a:spcAft>
          <a:spcPts val="0"/>
        </a:spcAft>
        <a:buClr>
          <a:schemeClr val="accent1"/>
        </a:buClr>
        <a:buSzPct val="100000"/>
        <a:buFont typeface="Calibri"/>
        <a:buChar char="◦"/>
        <a:tabLst/>
        <a:defRPr b="0" baseline="0" cap="none" i="0" spc="0" strike="noStrike" sz="2000" u="none">
          <a:solidFill>
            <a:srgbClr val="404040"/>
          </a:solidFill>
          <a:uFillTx/>
          <a:latin typeface="+mj-lt"/>
          <a:ea typeface="+mj-ea"/>
          <a:cs typeface="+mj-cs"/>
          <a:sym typeface="Calibri"/>
        </a:defRPr>
      </a:lvl8pPr>
      <a:lvl9pPr marL="1797866" marR="0" indent="-326571" algn="l" defTabSz="914400" rtl="0" latinLnBrk="0">
        <a:lnSpc>
          <a:spcPct val="90000"/>
        </a:lnSpc>
        <a:spcBef>
          <a:spcPts val="1200"/>
        </a:spcBef>
        <a:spcAft>
          <a:spcPts val="0"/>
        </a:spcAft>
        <a:buClr>
          <a:schemeClr val="accent1"/>
        </a:buClr>
        <a:buSzPct val="100000"/>
        <a:buFont typeface="Calibri"/>
        <a:buChar char="◦"/>
        <a:tabLst/>
        <a:defRPr b="0" baseline="0" cap="none" i="0" spc="0" strike="noStrike" sz="2000" u="none">
          <a:solidFill>
            <a:srgbClr val="404040"/>
          </a:solidFill>
          <a:uFillTx/>
          <a:latin typeface="+mj-lt"/>
          <a:ea typeface="+mj-ea"/>
          <a:cs typeface="+mj-cs"/>
          <a:sym typeface="Calibri"/>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1.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omments" Target="../comments/comment1.xml"/><Relationship Id="rId3" Type="http://schemas.openxmlformats.org/officeDocument/2006/relationships/image" Target="../media/image2.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oi.org/10.1155/2021/1268453" TargetMode="External"/><Relationship Id="rId3" Type="http://schemas.openxmlformats.org/officeDocument/2006/relationships/hyperlink" Target="https://ijariie.com/AdminUploadPdf/Food_Image_Processing_Using_Deep_Learning_ijariie21880.pdf?srsltid=AfmBOoo0b-jiirjdOME09RbINc_0rr3CkvrLkGUb47wej_7RMd5N6HA5" TargetMode="External"/><Relationship Id="rId4" Type="http://schemas.openxmlformats.org/officeDocument/2006/relationships/image" Target="../media/image2.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lochana.org/wp-content/uploads/13-AJ2290.pdf" TargetMode="External"/><Relationship Id="rId3" Type="http://schemas.openxmlformats.org/officeDocument/2006/relationships/hyperlink" Target="https://snscourseware.org/snsctnew/files/1715238129.pdf" TargetMode="External"/><Relationship Id="rId4" Type="http://schemas.openxmlformats.org/officeDocument/2006/relationships/hyperlink" Target="http://jaybaxter.net/6869_food_project.pdf" TargetMode="External"/><Relationship Id="rId5" Type="http://schemas.openxmlformats.org/officeDocument/2006/relationships/hyperlink" Target="https://shabdbooks.com/wp-content/uploads/2024/07/120-july2024.pdf" TargetMode="External"/><Relationship Id="rId6"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09" name="Picture 4" descr="Picture 4"/>
          <p:cNvPicPr>
            <a:picLocks noChangeAspect="1"/>
          </p:cNvPicPr>
          <p:nvPr/>
        </p:nvPicPr>
        <p:blipFill>
          <a:blip r:embed="rId2">
            <a:extLst/>
          </a:blip>
          <a:stretch>
            <a:fillRect/>
          </a:stretch>
        </p:blipFill>
        <p:spPr>
          <a:xfrm>
            <a:off x="1809749" y="928930"/>
            <a:ext cx="8572501" cy="1962151"/>
          </a:xfrm>
          <a:prstGeom prst="rect">
            <a:avLst/>
          </a:prstGeom>
          <a:ln w="12700">
            <a:miter lim="400000"/>
          </a:ln>
        </p:spPr>
      </p:pic>
      <p:sp>
        <p:nvSpPr>
          <p:cNvPr id="110" name="TextBox 5"/>
          <p:cNvSpPr txBox="1"/>
          <p:nvPr/>
        </p:nvSpPr>
        <p:spPr>
          <a:xfrm>
            <a:off x="8530388" y="4473916"/>
            <a:ext cx="3184613" cy="17420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a:latin typeface="Garamond"/>
                <a:ea typeface="Garamond"/>
                <a:cs typeface="Garamond"/>
                <a:sym typeface="Garamond"/>
              </a:defRPr>
            </a:pPr>
            <a:r>
              <a:t>Team Members </a:t>
            </a:r>
            <a:r>
              <a:rPr>
                <a:latin typeface="+mj-lt"/>
                <a:ea typeface="+mj-ea"/>
                <a:cs typeface="+mj-cs"/>
                <a:sym typeface="Calibri"/>
              </a:rPr>
              <a:t>:</a:t>
            </a:r>
          </a:p>
          <a:p>
            <a:pPr marL="285750" indent="-285750">
              <a:buSzPct val="100000"/>
              <a:buChar char="▪"/>
              <a:defRPr>
                <a:latin typeface="Garamond"/>
                <a:ea typeface="Garamond"/>
                <a:cs typeface="Garamond"/>
                <a:sym typeface="Garamond"/>
              </a:defRPr>
            </a:pPr>
            <a:r>
              <a:t>Ayush Hang Verma</a:t>
            </a:r>
          </a:p>
          <a:p>
            <a:pPr marL="285750" indent="-285750">
              <a:buSzPct val="100000"/>
              <a:buChar char="▪"/>
              <a:defRPr>
                <a:latin typeface="Garamond"/>
                <a:ea typeface="Garamond"/>
                <a:cs typeface="Garamond"/>
                <a:sym typeface="Garamond"/>
              </a:defRPr>
            </a:pPr>
            <a:r>
              <a:t>Pravesh Sharma</a:t>
            </a:r>
          </a:p>
          <a:p>
            <a:pPr marL="285750" indent="-285750">
              <a:buSzPct val="100000"/>
              <a:buChar char="▪"/>
              <a:defRPr>
                <a:latin typeface="Garamond"/>
                <a:ea typeface="Garamond"/>
                <a:cs typeface="Garamond"/>
                <a:sym typeface="Garamond"/>
              </a:defRPr>
            </a:pPr>
            <a:r>
              <a:t>Aditya Ujwall </a:t>
            </a:r>
          </a:p>
          <a:p>
            <a:pPr marL="285750" indent="-285750">
              <a:buSzPct val="100000"/>
              <a:buChar char="▪"/>
              <a:defRPr>
                <a:latin typeface="Garamond"/>
                <a:ea typeface="Garamond"/>
                <a:cs typeface="Garamond"/>
                <a:sym typeface="Garamond"/>
              </a:defRPr>
            </a:pPr>
            <a:r>
              <a:t>Yashu Hang Subba</a:t>
            </a:r>
          </a:p>
          <a:p>
            <a:pPr marL="285750" indent="-285750">
              <a:buSzPct val="100000"/>
              <a:buChar char="▪"/>
              <a:defRPr>
                <a:latin typeface="Garamond"/>
                <a:ea typeface="Garamond"/>
                <a:cs typeface="Garamond"/>
                <a:sym typeface="Garamond"/>
              </a:defRPr>
            </a:pPr>
            <a:r>
              <a:t>Priyankar Chhetri </a:t>
            </a:r>
          </a:p>
        </p:txBody>
      </p:sp>
      <p:sp>
        <p:nvSpPr>
          <p:cNvPr id="111" name="TextBox 6"/>
          <p:cNvSpPr txBox="1"/>
          <p:nvPr/>
        </p:nvSpPr>
        <p:spPr>
          <a:xfrm>
            <a:off x="1240885" y="4473916"/>
            <a:ext cx="5410312" cy="6879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a:latin typeface="Garamond"/>
                <a:ea typeface="Garamond"/>
                <a:cs typeface="Garamond"/>
                <a:sym typeface="Garamond"/>
              </a:defRPr>
            </a:pPr>
            <a:r>
              <a:t>Under The Guidance Of</a:t>
            </a:r>
            <a:r>
              <a:rPr>
                <a:latin typeface="+mj-lt"/>
                <a:ea typeface="+mj-ea"/>
                <a:cs typeface="+mj-cs"/>
                <a:sym typeface="Calibri"/>
              </a:rPr>
              <a:t>:</a:t>
            </a:r>
          </a:p>
          <a:p>
            <a:pPr>
              <a:defRPr sz="2000">
                <a:latin typeface="Garamond"/>
                <a:ea typeface="Garamond"/>
                <a:cs typeface="Garamond"/>
                <a:sym typeface="Garamond"/>
              </a:defRPr>
            </a:pPr>
            <a:r>
              <a:t>Mr. Shubhajit Panda </a:t>
            </a:r>
          </a:p>
        </p:txBody>
      </p:sp>
      <p:sp>
        <p:nvSpPr>
          <p:cNvPr id="112" name="TextBox 1"/>
          <p:cNvSpPr txBox="1"/>
          <p:nvPr/>
        </p:nvSpPr>
        <p:spPr>
          <a:xfrm>
            <a:off x="1656773" y="3696167"/>
            <a:ext cx="8878453" cy="44475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800"/>
            </a:lvl1pPr>
          </a:lstStyle>
          <a:p>
            <a:pPr/>
            <a:r>
              <a:t>HYBRID FOOD IMAGE PROCESSING </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114" name="Table 3"/>
          <p:cNvGraphicFramePr/>
          <p:nvPr/>
        </p:nvGraphicFramePr>
        <p:xfrm>
          <a:off x="2862708" y="1833184"/>
          <a:ext cx="6466584" cy="3176517"/>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789410"/>
                <a:gridCol w="4598313"/>
                <a:gridCol w="1078860"/>
              </a:tblGrid>
              <a:tr h="412929">
                <a:tc>
                  <a:txBody>
                    <a:bodyPr/>
                    <a:lstStyle/>
                    <a:p>
                      <a:pPr algn="l" defTabSz="914400">
                        <a:defRPr b="0" sz="1800">
                          <a:solidFill>
                            <a:srgbClr val="000000"/>
                          </a:solidFill>
                        </a:defRPr>
                      </a:pPr>
                      <a:r>
                        <a:rPr b="1">
                          <a:latin typeface="Garamond"/>
                          <a:ea typeface="Garamond"/>
                          <a:cs typeface="Garamond"/>
                          <a:sym typeface="Garamond"/>
                        </a:rPr>
                        <a:t>S.No</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ctr" defTabSz="914400">
                        <a:defRPr b="0" sz="1800">
                          <a:solidFill>
                            <a:srgbClr val="000000"/>
                          </a:solidFill>
                        </a:defRPr>
                      </a:pPr>
                      <a:r>
                        <a:rPr b="1">
                          <a:latin typeface="Garamond"/>
                          <a:ea typeface="Garamond"/>
                          <a:cs typeface="Garamond"/>
                          <a:sym typeface="Garamond"/>
                        </a:rPr>
                        <a:t>Title</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b="0" sz="1800">
                          <a:solidFill>
                            <a:srgbClr val="000000"/>
                          </a:solidFill>
                        </a:defRPr>
                      </a:pPr>
                      <a:r>
                        <a:rPr b="1">
                          <a:latin typeface="Garamond"/>
                          <a:ea typeface="Garamond"/>
                          <a:cs typeface="Garamond"/>
                          <a:sym typeface="Garamond"/>
                        </a:rPr>
                        <a:t>Slide No</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412929">
                <a:tc>
                  <a:txBody>
                    <a:bodyPr/>
                    <a:lstStyle/>
                    <a:p>
                      <a:pPr algn="l" defTabSz="914400">
                        <a:defRPr sz="1800"/>
                      </a:pPr>
                      <a:r>
                        <a:t>1.</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r>
                        <a:t>Abstract</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r>
                        <a:t>3</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70840">
                <a:tc>
                  <a:txBody>
                    <a:bodyPr/>
                    <a:lstStyle/>
                    <a:p>
                      <a:pPr algn="l" defTabSz="914400">
                        <a:defRPr sz="1800"/>
                      </a:pPr>
                      <a:r>
                        <a:t>2.</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r>
                        <a:t>Problem Statement</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r>
                        <a:t>4</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20040">
                <a:tc>
                  <a:txBody>
                    <a:bodyPr/>
                    <a:lstStyle/>
                    <a:p>
                      <a:pPr algn="l" defTabSz="914400">
                        <a:defRPr sz="1800"/>
                      </a:pPr>
                      <a:r>
                        <a:t>3.</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r>
                        <a:t>Tools And Technologies</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r>
                        <a:t>5</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20040">
                <a:tc>
                  <a:txBody>
                    <a:bodyPr/>
                    <a:lstStyle/>
                    <a:p>
                      <a:pPr algn="l" defTabSz="914400">
                        <a:defRPr sz="1800"/>
                      </a:pPr>
                      <a:r>
                        <a:t>4.</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r>
                        <a:t>Solution Strategies</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r>
                        <a:t>6-7</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70840">
                <a:tc>
                  <a:txBody>
                    <a:bodyPr/>
                    <a:lstStyle/>
                    <a:p>
                      <a:pPr algn="l" defTabSz="914400">
                        <a:defRPr sz="1800"/>
                      </a:pPr>
                      <a:r>
                        <a:t>5.</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r>
                        <a:t>Research Design / Workflow / Methodology</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r>
                        <a:t>8-9</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70840">
                <a:tc>
                  <a:txBody>
                    <a:bodyPr/>
                    <a:lstStyle/>
                    <a:p>
                      <a:pPr algn="l" defTabSz="914400">
                        <a:defRPr sz="1800"/>
                      </a:pPr>
                      <a:r>
                        <a:t>6.</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r>
                        <a:t>Gantt Chart</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r>
                        <a:t>10</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299029">
                <a:tc>
                  <a:txBody>
                    <a:bodyPr/>
                    <a:lstStyle/>
                    <a:p>
                      <a:pPr algn="l" defTabSz="914400">
                        <a:defRPr sz="1800"/>
                      </a:pPr>
                      <a:r>
                        <a:t>7.</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r>
                        <a:t>Conclusion</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r>
                        <a:t>11</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299029">
                <a:tc>
                  <a:txBody>
                    <a:bodyPr/>
                    <a:lstStyle/>
                    <a:p>
                      <a:pPr algn="l" defTabSz="914400">
                        <a:defRPr sz="1800"/>
                      </a:pPr>
                      <a:r>
                        <a:t>8.</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r>
                        <a:t>References</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r>
                        <a:t>12-13</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pic>
        <p:nvPicPr>
          <p:cNvPr id="115" name="Picture 1" descr="Picture 1"/>
          <p:cNvPicPr>
            <a:picLocks noChangeAspect="1"/>
          </p:cNvPicPr>
          <p:nvPr/>
        </p:nvPicPr>
        <p:blipFill>
          <a:blip r:embed="rId2">
            <a:extLst/>
          </a:blip>
          <a:stretch>
            <a:fillRect/>
          </a:stretch>
        </p:blipFill>
        <p:spPr>
          <a:xfrm>
            <a:off x="10567237" y="6406186"/>
            <a:ext cx="1624763" cy="371891"/>
          </a:xfrm>
          <a:prstGeom prst="rect">
            <a:avLst/>
          </a:prstGeom>
          <a:ln w="12700">
            <a:miter lim="400000"/>
          </a:ln>
        </p:spPr>
      </p:pic>
      <p:sp>
        <p:nvSpPr>
          <p:cNvPr id="116" name="TextBox 2"/>
          <p:cNvSpPr txBox="1"/>
          <p:nvPr/>
        </p:nvSpPr>
        <p:spPr>
          <a:xfrm>
            <a:off x="4177360" y="1309964"/>
            <a:ext cx="3837279" cy="485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800">
                <a:latin typeface="Garamond"/>
                <a:ea typeface="Garamond"/>
                <a:cs typeface="Garamond"/>
                <a:sym typeface="Garamond"/>
              </a:defRPr>
            </a:lvl1pPr>
          </a:lstStyle>
          <a:p>
            <a:pPr/>
            <a:r>
              <a:t>TABLE OF CONTENT</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Box 3"/>
          <p:cNvSpPr txBox="1"/>
          <p:nvPr/>
        </p:nvSpPr>
        <p:spPr>
          <a:xfrm>
            <a:off x="4797705" y="1145806"/>
            <a:ext cx="3546426" cy="548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200">
                <a:latin typeface="Garamond"/>
                <a:ea typeface="Garamond"/>
                <a:cs typeface="Garamond"/>
                <a:sym typeface="Garamond"/>
              </a:defRPr>
            </a:lvl1pPr>
          </a:lstStyle>
          <a:p>
            <a:pPr/>
            <a:r>
              <a:t>ABSTRACT</a:t>
            </a:r>
          </a:p>
        </p:txBody>
      </p:sp>
      <p:sp>
        <p:nvSpPr>
          <p:cNvPr id="119" name="TextBox 2"/>
          <p:cNvSpPr txBox="1"/>
          <p:nvPr/>
        </p:nvSpPr>
        <p:spPr>
          <a:xfrm>
            <a:off x="539495" y="1926540"/>
            <a:ext cx="10972802" cy="40754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85750" indent="-285750">
              <a:buSzPct val="100000"/>
              <a:buFont typeface="Arial"/>
              <a:buChar char="•"/>
              <a:defRPr sz="2400"/>
            </a:pPr>
            <a:r>
              <a:t>In this day and age almost, every person wants live a healthy life and the best way to achieve that is by knowing what you eat and by having good food habits. </a:t>
            </a:r>
          </a:p>
          <a:p>
            <a:pPr marL="285750" indent="-285750">
              <a:buSzPct val="100000"/>
              <a:buFont typeface="Arial"/>
              <a:buChar char="•"/>
              <a:defRPr sz="2400"/>
            </a:pPr>
            <a:r>
              <a:t>Knowing what you eat gives you the transparency you need to achieve good health and to fulfil the goal of living a healthy and holistic life. </a:t>
            </a:r>
          </a:p>
          <a:p>
            <a:pPr marL="285750" indent="-285750">
              <a:buSzPct val="100000"/>
              <a:buFont typeface="Arial"/>
              <a:buChar char="•"/>
              <a:defRPr sz="2400"/>
            </a:pPr>
            <a:r>
              <a:t>Now imagine a life where you can have this transparency within arms reach, having the means to know how much you are eating and what it is made of and if it is actually good for you or not.</a:t>
            </a:r>
          </a:p>
          <a:p>
            <a:pPr marL="285750" indent="-285750">
              <a:buSzPct val="100000"/>
              <a:buFont typeface="Arial"/>
              <a:buChar char="•"/>
              <a:defRPr sz="2400"/>
            </a:pPr>
            <a:r>
              <a:t>You just upload a picture of what you eat and you get to know the food category, number of calories and the ingredients that are there in the food you are consuming.</a:t>
            </a:r>
          </a:p>
          <a:p>
            <a:pPr marL="285750" indent="-285750">
              <a:buSzPct val="100000"/>
              <a:buFont typeface="Arial"/>
              <a:buChar char="•"/>
              <a:defRPr sz="2400"/>
            </a:pPr>
            <a:r>
              <a:t>The increasing prevalence of food allergies and dietary restrictions necessitates precise information about the composition of food items we consume.</a:t>
            </a:r>
          </a:p>
        </p:txBody>
      </p:sp>
      <p:pic>
        <p:nvPicPr>
          <p:cNvPr id="120" name="Picture 4" descr="Picture 4"/>
          <p:cNvPicPr>
            <a:picLocks noChangeAspect="1"/>
          </p:cNvPicPr>
          <p:nvPr/>
        </p:nvPicPr>
        <p:blipFill>
          <a:blip r:embed="rId2">
            <a:extLst/>
          </a:blip>
          <a:stretch>
            <a:fillRect/>
          </a:stretch>
        </p:blipFill>
        <p:spPr>
          <a:xfrm>
            <a:off x="10567237" y="6406186"/>
            <a:ext cx="1624763" cy="371891"/>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2" name="TextBox 3"/>
          <p:cNvSpPr txBox="1"/>
          <p:nvPr/>
        </p:nvSpPr>
        <p:spPr>
          <a:xfrm>
            <a:off x="3460094" y="915601"/>
            <a:ext cx="5037622" cy="548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200">
                <a:latin typeface="Garamond"/>
                <a:ea typeface="Garamond"/>
                <a:cs typeface="Garamond"/>
                <a:sym typeface="Garamond"/>
              </a:defRPr>
            </a:lvl1pPr>
          </a:lstStyle>
          <a:p>
            <a:pPr/>
            <a:r>
              <a:t>PROBLEM STATEMENT</a:t>
            </a:r>
          </a:p>
        </p:txBody>
      </p:sp>
      <p:sp>
        <p:nvSpPr>
          <p:cNvPr id="123" name="TextBox 2"/>
          <p:cNvSpPr txBox="1"/>
          <p:nvPr/>
        </p:nvSpPr>
        <p:spPr>
          <a:xfrm>
            <a:off x="388619" y="1850896"/>
            <a:ext cx="11548872" cy="44437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pPr>
            <a:r>
              <a:t>- Lack of quick and accurate information about meals</a:t>
            </a:r>
          </a:p>
          <a:p>
            <a:pPr>
              <a:defRPr sz="2400"/>
            </a:pPr>
            <a:r>
              <a:t>- Lack of nutritional transparency when it comes to kitchen prepared food </a:t>
            </a:r>
          </a:p>
          <a:p>
            <a:pPr>
              <a:defRPr sz="2400"/>
            </a:pPr>
            <a:r>
              <a:t>- Food diversity in India, hence lack regional and ethnic food varieties </a:t>
            </a:r>
          </a:p>
          <a:p>
            <a:pPr>
              <a:defRPr sz="2400"/>
            </a:pPr>
            <a:r>
              <a:t>- Manual intervention when it comes to food portion tracking </a:t>
            </a:r>
          </a:p>
          <a:p>
            <a:pPr>
              <a:defRPr sz="2400"/>
            </a:pPr>
            <a:r>
              <a:t>- Portion estimation relies on assumptions</a:t>
            </a:r>
          </a:p>
          <a:p>
            <a:pPr>
              <a:defRPr sz="2400"/>
            </a:pPr>
            <a:r>
              <a:t>- Missing out on sensitive health information due to the lack of food logging</a:t>
            </a:r>
          </a:p>
          <a:p>
            <a:pPr>
              <a:defRPr sz="2400"/>
            </a:pPr>
            <a:r>
              <a:t>- Visual food records increases accountability regarding eating patterns</a:t>
            </a:r>
          </a:p>
          <a:p>
            <a:pPr>
              <a:defRPr sz="2400"/>
            </a:pPr>
            <a:r>
              <a:t>- Assists patients with medical conditions which are heavily dependent on food habits</a:t>
            </a:r>
          </a:p>
          <a:p>
            <a:pPr>
              <a:defRPr sz="2400"/>
            </a:pPr>
            <a:r>
              <a:t>- Support for long term dietary habit tracking improving the prevention of chronic diseases</a:t>
            </a:r>
          </a:p>
          <a:p>
            <a:pPr>
              <a:defRPr sz="2400"/>
            </a:pPr>
            <a:r>
              <a:t>- Provides data for research on relationship between dietary habits and diseases</a:t>
            </a:r>
          </a:p>
          <a:p>
            <a:pPr>
              <a:defRPr sz="2400"/>
            </a:pPr>
            <a:r>
              <a:t>- Records change in food patterns across various cultures</a:t>
            </a:r>
          </a:p>
          <a:p>
            <a:pPr>
              <a:defRPr sz="2400"/>
            </a:pPr>
            <a:r>
              <a:t>- Automates food inspections and consistency verification in food production</a:t>
            </a:r>
          </a:p>
        </p:txBody>
      </p:sp>
      <p:pic>
        <p:nvPicPr>
          <p:cNvPr id="124" name="Picture 1" descr="Picture 1"/>
          <p:cNvPicPr>
            <a:picLocks noChangeAspect="1"/>
          </p:cNvPicPr>
          <p:nvPr/>
        </p:nvPicPr>
        <p:blipFill>
          <a:blip r:embed="rId2">
            <a:extLst/>
          </a:blip>
          <a:stretch>
            <a:fillRect/>
          </a:stretch>
        </p:blipFill>
        <p:spPr>
          <a:xfrm>
            <a:off x="10567237" y="6406186"/>
            <a:ext cx="1624763" cy="371891"/>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6" name="TextBox 3"/>
          <p:cNvSpPr txBox="1"/>
          <p:nvPr/>
        </p:nvSpPr>
        <p:spPr>
          <a:xfrm>
            <a:off x="2986658" y="1266122"/>
            <a:ext cx="6218684" cy="548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200">
                <a:latin typeface="Garamond"/>
                <a:ea typeface="Garamond"/>
                <a:cs typeface="Garamond"/>
                <a:sym typeface="Garamond"/>
              </a:defRPr>
            </a:lvl1pPr>
          </a:lstStyle>
          <a:p>
            <a:pPr/>
            <a:r>
              <a:t>TOOLS AND TECHNOLOGIES</a:t>
            </a:r>
          </a:p>
        </p:txBody>
      </p:sp>
      <p:sp>
        <p:nvSpPr>
          <p:cNvPr id="127" name="TextBox 2"/>
          <p:cNvSpPr txBox="1"/>
          <p:nvPr/>
        </p:nvSpPr>
        <p:spPr>
          <a:xfrm>
            <a:off x="676655" y="1850896"/>
            <a:ext cx="10972802" cy="40754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85750" indent="-285750" defTabSz="914400">
              <a:buSzPct val="100000"/>
              <a:buChar char="▪"/>
              <a:defRPr sz="2400"/>
            </a:pPr>
            <a:r>
              <a:t>Object Detection Model : YOLOv8</a:t>
            </a:r>
          </a:p>
          <a:p>
            <a:pPr marL="285750" indent="-285750" defTabSz="914400">
              <a:buSzPct val="100000"/>
              <a:buChar char="▪"/>
              <a:defRPr sz="2400"/>
            </a:pPr>
            <a:r>
              <a:t>Deep Learning Framework : PyTorch </a:t>
            </a:r>
          </a:p>
          <a:p>
            <a:pPr marL="285750" indent="-285750" defTabSz="914400">
              <a:buSzPct val="100000"/>
              <a:buChar char="▪"/>
              <a:defRPr sz="2400"/>
            </a:pPr>
            <a:r>
              <a:t>Programming Language : Python </a:t>
            </a:r>
          </a:p>
          <a:p>
            <a:pPr marL="285750" indent="-285750" defTabSz="914400">
              <a:buSzPct val="100000"/>
              <a:buChar char="▪"/>
              <a:defRPr sz="2400"/>
            </a:pPr>
            <a:r>
              <a:t>Python Libraries : NumPy, Pandas, OpenCV, Matplotlib, Torch, Cuda</a:t>
            </a:r>
          </a:p>
          <a:p>
            <a:pPr marL="285750" indent="-285750" defTabSz="914400">
              <a:buSzPct val="100000"/>
              <a:buChar char="▪"/>
              <a:defRPr sz="2400"/>
            </a:pPr>
            <a:r>
              <a:t>Dataset : Food101, UECFoodPix, Food Recognition 2022</a:t>
            </a:r>
          </a:p>
          <a:p>
            <a:pPr marL="285750" indent="-285750" defTabSz="914400">
              <a:buSzPct val="100000"/>
              <a:buChar char="▪"/>
              <a:defRPr sz="2400"/>
            </a:pPr>
            <a:r>
              <a:t>Software Env : CUDA toolkit for GPU acceleration, Git for version control</a:t>
            </a:r>
          </a:p>
          <a:p>
            <a:pPr defTabSz="914400">
              <a:defRPr sz="2400"/>
            </a:pPr>
          </a:p>
          <a:p>
            <a:pPr marL="285750" indent="-285750" defTabSz="914400">
              <a:buSzPct val="100000"/>
              <a:buChar char="▪"/>
              <a:defRPr sz="2400"/>
            </a:pPr>
          </a:p>
          <a:p>
            <a:pPr marL="285750" indent="-285750" defTabSz="914400">
              <a:buSzPct val="100000"/>
              <a:buChar char="▪"/>
              <a:defRPr sz="2400"/>
            </a:pPr>
          </a:p>
          <a:p>
            <a:pPr marL="285750" indent="-285750" defTabSz="914400">
              <a:buSzPct val="100000"/>
              <a:buChar char="▪"/>
              <a:defRPr sz="2400"/>
            </a:pPr>
          </a:p>
        </p:txBody>
      </p:sp>
      <p:pic>
        <p:nvPicPr>
          <p:cNvPr id="128" name="Picture 1" descr="Picture 1"/>
          <p:cNvPicPr>
            <a:picLocks noChangeAspect="1"/>
          </p:cNvPicPr>
          <p:nvPr/>
        </p:nvPicPr>
        <p:blipFill>
          <a:blip r:embed="rId2">
            <a:extLst/>
          </a:blip>
          <a:stretch>
            <a:fillRect/>
          </a:stretch>
        </p:blipFill>
        <p:spPr>
          <a:xfrm>
            <a:off x="10567237" y="6406186"/>
            <a:ext cx="1624763" cy="371891"/>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 name="TextBox 3"/>
          <p:cNvSpPr txBox="1"/>
          <p:nvPr/>
        </p:nvSpPr>
        <p:spPr>
          <a:xfrm>
            <a:off x="3386974" y="1267332"/>
            <a:ext cx="5770511" cy="548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200">
                <a:latin typeface="Garamond"/>
                <a:ea typeface="Garamond"/>
                <a:cs typeface="Garamond"/>
                <a:sym typeface="Garamond"/>
              </a:defRPr>
            </a:lvl1pPr>
          </a:lstStyle>
          <a:p>
            <a:pPr/>
            <a:r>
              <a:t>SOLUTION STRATEGIES </a:t>
            </a:r>
          </a:p>
        </p:txBody>
      </p:sp>
      <p:sp>
        <p:nvSpPr>
          <p:cNvPr id="131" name="TextBox 2"/>
          <p:cNvSpPr txBox="1"/>
          <p:nvPr/>
        </p:nvSpPr>
        <p:spPr>
          <a:xfrm>
            <a:off x="676655" y="1850896"/>
            <a:ext cx="10972802" cy="430258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67368" indent="-267368">
              <a:buSzPct val="100000"/>
              <a:buAutoNum type="arabicPeriod" startAt="1"/>
              <a:defRPr sz="2000"/>
            </a:pPr>
            <a:r>
              <a:t>Object Detection Model : YOLOv8 is an object detection model which detects objects by drawing a bounding box around it allowing the system to detect multiple food items in a single image.</a:t>
            </a:r>
            <a:br/>
            <a:br/>
            <a:r>
              <a:t>Purpose: Detect and localise several food items in complex meals (e.g., thali, salad bowls). Perform multiple tasks; detection, segmentation and classification, hence it is useful for food analysis where you need to switch between these tasks. </a:t>
            </a:r>
            <a:br/>
            <a:br/>
            <a:r>
              <a:t>Benefit : Has a higher mean Average Precision (mAP) than previous YOLO versions.</a:t>
            </a:r>
            <a:br/>
            <a:r>
              <a:t>It can create pixel-perfect masks of food items rather than just bounding boxes.</a:t>
            </a:r>
            <a:br/>
            <a:r>
              <a:t>Can be fine tuned on food-specific datasets to improve recognition accuracy.</a:t>
            </a:r>
            <a:br/>
            <a:br/>
          </a:p>
          <a:p>
            <a:pPr>
              <a:defRPr sz="2000"/>
            </a:pPr>
          </a:p>
        </p:txBody>
      </p:sp>
      <p:pic>
        <p:nvPicPr>
          <p:cNvPr id="132" name="Picture 1" descr="Picture 1"/>
          <p:cNvPicPr>
            <a:picLocks noChangeAspect="1"/>
          </p:cNvPicPr>
          <p:nvPr/>
        </p:nvPicPr>
        <p:blipFill>
          <a:blip r:embed="rId2">
            <a:extLst/>
          </a:blip>
          <a:stretch>
            <a:fillRect/>
          </a:stretch>
        </p:blipFill>
        <p:spPr>
          <a:xfrm>
            <a:off x="10567237" y="6406186"/>
            <a:ext cx="1624763" cy="371891"/>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4" name="TextBox 3"/>
          <p:cNvSpPr txBox="1"/>
          <p:nvPr/>
        </p:nvSpPr>
        <p:spPr>
          <a:xfrm>
            <a:off x="3386974" y="1267332"/>
            <a:ext cx="5770511" cy="548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200">
                <a:latin typeface="Garamond"/>
                <a:ea typeface="Garamond"/>
                <a:cs typeface="Garamond"/>
                <a:sym typeface="Garamond"/>
              </a:defRPr>
            </a:lvl1pPr>
          </a:lstStyle>
          <a:p>
            <a:pPr/>
            <a:r>
              <a:t>SOLUTION STRATEGIES </a:t>
            </a:r>
          </a:p>
        </p:txBody>
      </p:sp>
      <p:sp>
        <p:nvSpPr>
          <p:cNvPr id="135" name="TextBox 2"/>
          <p:cNvSpPr txBox="1"/>
          <p:nvPr/>
        </p:nvSpPr>
        <p:spPr>
          <a:xfrm>
            <a:off x="676655" y="1788666"/>
            <a:ext cx="10972802" cy="338818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000"/>
            </a:pPr>
            <a:r>
              <a:t>2. Deep Learning Framework : PyTorch is a deep learning framework that provides the building blocks (layers, activation functions) for YOLO implementation. It manages the computational graph for forward and backward propagation through the network.</a:t>
            </a:r>
          </a:p>
          <a:p>
            <a:pPr>
              <a:defRPr sz="2000"/>
            </a:pPr>
          </a:p>
          <a:p>
            <a:pPr>
              <a:defRPr sz="2000"/>
            </a:pPr>
            <a:r>
              <a:t>Purpose : Handle multi dimensional arrays that represent images and feature maps. Lays the foundation for the model implementation. Perform real time food image analysis.</a:t>
            </a:r>
          </a:p>
          <a:p>
            <a:pPr>
              <a:defRPr sz="2000"/>
            </a:pPr>
          </a:p>
          <a:p>
            <a:pPr>
              <a:defRPr sz="2000"/>
            </a:pPr>
            <a:r>
              <a:t>Benefit : Can transfer computations to NVIDIA GPUs using CUDA for faster processing. Provision to load pre-trained YOLOv8 weights. </a:t>
            </a:r>
          </a:p>
          <a:p>
            <a:pPr>
              <a:buSzPct val="100000"/>
              <a:buFont typeface="Arial"/>
              <a:buChar char="•"/>
              <a:defRPr sz="2000"/>
            </a:pPr>
          </a:p>
        </p:txBody>
      </p:sp>
      <p:pic>
        <p:nvPicPr>
          <p:cNvPr id="136" name="Picture 1" descr="Picture 1"/>
          <p:cNvPicPr>
            <a:picLocks noChangeAspect="1"/>
          </p:cNvPicPr>
          <p:nvPr/>
        </p:nvPicPr>
        <p:blipFill>
          <a:blip r:embed="rId2">
            <a:extLst/>
          </a:blip>
          <a:stretch>
            <a:fillRect/>
          </a:stretch>
        </p:blipFill>
        <p:spPr>
          <a:xfrm>
            <a:off x="10567237" y="6406186"/>
            <a:ext cx="1624763" cy="371891"/>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 name="TextBox 3"/>
          <p:cNvSpPr txBox="1"/>
          <p:nvPr/>
        </p:nvSpPr>
        <p:spPr>
          <a:xfrm>
            <a:off x="3575304" y="1266122"/>
            <a:ext cx="4676395" cy="548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200">
                <a:latin typeface="Garamond"/>
                <a:ea typeface="Garamond"/>
                <a:cs typeface="Garamond"/>
                <a:sym typeface="Garamond"/>
              </a:defRPr>
            </a:lvl1pPr>
          </a:lstStyle>
          <a:p>
            <a:pPr/>
            <a:r>
              <a:t>SOLUTION STRATEGY</a:t>
            </a:r>
          </a:p>
        </p:txBody>
      </p:sp>
      <p:sp>
        <p:nvSpPr>
          <p:cNvPr id="139" name="TextBox 2"/>
          <p:cNvSpPr txBox="1"/>
          <p:nvPr/>
        </p:nvSpPr>
        <p:spPr>
          <a:xfrm>
            <a:off x="676655" y="1850896"/>
            <a:ext cx="10972802" cy="338818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000"/>
            </a:pPr>
            <a:r>
              <a:t>3. Programming language and Libraries : Python is the programming language used for deep learning and machine learning development as frameworks like YOLOv8 and PyTorch are primarily developed in and for Python. </a:t>
            </a:r>
            <a:br/>
            <a:r>
              <a:t>Most CGV libraries have robust Python support</a:t>
            </a:r>
          </a:p>
          <a:p>
            <a:pPr>
              <a:defRPr sz="2000"/>
            </a:pPr>
            <a:r>
              <a:t>Libraries : NumPy and Pandas for handling image data and metadata</a:t>
            </a:r>
            <a:br/>
            <a:r>
              <a:t>Matplotlib for data visualisation to help analyse model performance </a:t>
            </a:r>
          </a:p>
          <a:p>
            <a:pPr>
              <a:defRPr sz="2000"/>
            </a:pPr>
            <a:r>
              <a:t>Cuda for NVIDIA GPU acceleration and CUDA support</a:t>
            </a:r>
          </a:p>
          <a:p>
            <a:pPr>
              <a:defRPr sz="2000"/>
            </a:pPr>
          </a:p>
          <a:p>
            <a:pPr>
              <a:defRPr sz="2000"/>
            </a:pPr>
            <a:r>
              <a:t>Benefit : Easier to integrate with web services, databases and components. Better ecosystem support and development speed. </a:t>
            </a:r>
          </a:p>
        </p:txBody>
      </p:sp>
      <p:pic>
        <p:nvPicPr>
          <p:cNvPr id="140" name="Picture 1" descr="Picture 1"/>
          <p:cNvPicPr>
            <a:picLocks noChangeAspect="1"/>
          </p:cNvPicPr>
          <p:nvPr/>
        </p:nvPicPr>
        <p:blipFill>
          <a:blip r:embed="rId2">
            <a:extLst/>
          </a:blip>
          <a:stretch>
            <a:fillRect/>
          </a:stretch>
        </p:blipFill>
        <p:spPr>
          <a:xfrm>
            <a:off x="10567237" y="6406186"/>
            <a:ext cx="1624763" cy="371891"/>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2" name="TextBox 3"/>
          <p:cNvSpPr txBox="1"/>
          <p:nvPr/>
        </p:nvSpPr>
        <p:spPr>
          <a:xfrm>
            <a:off x="3575304" y="1266122"/>
            <a:ext cx="4676395" cy="548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200">
                <a:latin typeface="Garamond"/>
                <a:ea typeface="Garamond"/>
                <a:cs typeface="Garamond"/>
                <a:sym typeface="Garamond"/>
              </a:defRPr>
            </a:lvl1pPr>
          </a:lstStyle>
          <a:p>
            <a:pPr/>
            <a:r>
              <a:t>SOLUTION STRATEGY</a:t>
            </a:r>
          </a:p>
        </p:txBody>
      </p:sp>
      <p:sp>
        <p:nvSpPr>
          <p:cNvPr id="143" name="TextBox 2"/>
          <p:cNvSpPr txBox="1"/>
          <p:nvPr/>
        </p:nvSpPr>
        <p:spPr>
          <a:xfrm>
            <a:off x="676655" y="1850896"/>
            <a:ext cx="10972802" cy="308338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000"/>
            </a:pPr>
            <a:r>
              <a:t>4. Nutritional Value &amp; Calorie Estimation</a:t>
            </a:r>
          </a:p>
          <a:p>
            <a:pPr>
              <a:buSzPct val="100000"/>
              <a:buFont typeface="Arial"/>
              <a:buChar char="•"/>
              <a:defRPr sz="2000"/>
            </a:pPr>
            <a:r>
              <a:t>Once food and ingredients are recognised, we map them to a predefined nutrition database (e.g., USDA FoodData Central or custom-built DB) to estimate their calorie content and macronutrient breakdown (proteins, carbohydrates, fats).</a:t>
            </a:r>
          </a:p>
          <a:p>
            <a:pPr>
              <a:buSzPct val="100000"/>
              <a:buFont typeface="Arial"/>
              <a:buChar char="•"/>
              <a:defRPr sz="2000"/>
            </a:pPr>
          </a:p>
          <a:p>
            <a:pPr>
              <a:buSzPct val="100000"/>
              <a:buFont typeface="Arial"/>
              <a:buChar char="•"/>
              <a:defRPr sz="2000"/>
            </a:pPr>
            <a:r>
              <a:t>Purpose: Provide users with real-time nutritional information.</a:t>
            </a:r>
          </a:p>
          <a:p>
            <a:pPr>
              <a:buSzPct val="100000"/>
              <a:buFont typeface="Arial"/>
              <a:buChar char="•"/>
              <a:defRPr sz="2000"/>
            </a:pPr>
          </a:p>
          <a:p>
            <a:pPr>
              <a:buSzPct val="100000"/>
              <a:buFont typeface="Arial"/>
              <a:buChar char="•"/>
              <a:defRPr sz="2000"/>
            </a:pPr>
            <a:r>
              <a:t>Benefit: Increases transparency and helps users make informed dietary decisions.</a:t>
            </a:r>
          </a:p>
          <a:p>
            <a:pPr>
              <a:buSzPct val="100000"/>
              <a:buFont typeface="Arial"/>
              <a:buChar char="•"/>
              <a:defRPr sz="2000"/>
            </a:pPr>
          </a:p>
          <a:p>
            <a:pPr>
              <a:buSzPct val="100000"/>
              <a:buFont typeface="Arial"/>
              <a:buChar char="•"/>
              <a:defRPr sz="2000"/>
            </a:pPr>
            <a:r>
              <a:t>Tools Used: NumPy, Pandas for data mapping and calculations.</a:t>
            </a:r>
          </a:p>
        </p:txBody>
      </p:sp>
      <p:pic>
        <p:nvPicPr>
          <p:cNvPr id="144" name="Picture 1" descr="Picture 1"/>
          <p:cNvPicPr>
            <a:picLocks noChangeAspect="1"/>
          </p:cNvPicPr>
          <p:nvPr/>
        </p:nvPicPr>
        <p:blipFill>
          <a:blip r:embed="rId2">
            <a:extLst/>
          </a:blip>
          <a:stretch>
            <a:fillRect/>
          </a:stretch>
        </p:blipFill>
        <p:spPr>
          <a:xfrm>
            <a:off x="10567237" y="6406186"/>
            <a:ext cx="1624763" cy="371891"/>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6" name="TextBox 3"/>
          <p:cNvSpPr txBox="1"/>
          <p:nvPr/>
        </p:nvSpPr>
        <p:spPr>
          <a:xfrm>
            <a:off x="3575304" y="1266122"/>
            <a:ext cx="4676395" cy="548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200">
                <a:latin typeface="Garamond"/>
                <a:ea typeface="Garamond"/>
                <a:cs typeface="Garamond"/>
                <a:sym typeface="Garamond"/>
              </a:defRPr>
            </a:lvl1pPr>
          </a:lstStyle>
          <a:p>
            <a:pPr/>
            <a:r>
              <a:t>SOLUTION STRATEGY</a:t>
            </a:r>
          </a:p>
        </p:txBody>
      </p:sp>
      <p:sp>
        <p:nvSpPr>
          <p:cNvPr id="147" name="TextBox 2"/>
          <p:cNvSpPr txBox="1"/>
          <p:nvPr/>
        </p:nvSpPr>
        <p:spPr>
          <a:xfrm>
            <a:off x="676655" y="1850896"/>
            <a:ext cx="10972802" cy="308338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000"/>
            </a:pPr>
            <a:r>
              <a:t>6. Personalised Health Recommendations and Dietary Logging</a:t>
            </a:r>
          </a:p>
          <a:p>
            <a:pPr>
              <a:defRPr sz="2000"/>
            </a:pPr>
            <a:r>
              <a:t>Based on user profile data (e.g., age, weight, goals, health conditions), the system can provide dietary recommendations. Over time, users can track trends, nutrient intake, and maintain diet consistency.</a:t>
            </a:r>
          </a:p>
          <a:p>
            <a:pPr>
              <a:defRPr sz="2000"/>
            </a:pPr>
          </a:p>
          <a:p>
            <a:pPr>
              <a:defRPr sz="2000"/>
            </a:pPr>
            <a:r>
              <a:t>Purpose: Assist users in sticking to dietary plans improving chances in preventing chronic diseases hence guiding users towards healthier eating habits.</a:t>
            </a:r>
          </a:p>
          <a:p>
            <a:pPr>
              <a:defRPr sz="2000"/>
            </a:pPr>
          </a:p>
          <a:p>
            <a:pPr>
              <a:defRPr sz="2000"/>
            </a:pPr>
            <a:r>
              <a:t>Benefit: Helps in weight management, fitness, and chronic disease monitoring.Transforms food recognition into a health assistant.</a:t>
            </a:r>
          </a:p>
        </p:txBody>
      </p:sp>
      <p:pic>
        <p:nvPicPr>
          <p:cNvPr id="148" name="Picture 1" descr="Picture 1"/>
          <p:cNvPicPr>
            <a:picLocks noChangeAspect="1"/>
          </p:cNvPicPr>
          <p:nvPr/>
        </p:nvPicPr>
        <p:blipFill>
          <a:blip r:embed="rId2">
            <a:extLst/>
          </a:blip>
          <a:stretch>
            <a:fillRect/>
          </a:stretch>
        </p:blipFill>
        <p:spPr>
          <a:xfrm>
            <a:off x="10567237" y="6406186"/>
            <a:ext cx="1624763" cy="371891"/>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 name="TextBox 3"/>
          <p:cNvSpPr txBox="1"/>
          <p:nvPr/>
        </p:nvSpPr>
        <p:spPr>
          <a:xfrm>
            <a:off x="3575304" y="1266122"/>
            <a:ext cx="4676395" cy="548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200">
                <a:latin typeface="Garamond"/>
                <a:ea typeface="Garamond"/>
                <a:cs typeface="Garamond"/>
                <a:sym typeface="Garamond"/>
              </a:defRPr>
            </a:lvl1pPr>
          </a:lstStyle>
          <a:p>
            <a:pPr/>
            <a:r>
              <a:t>SOLUTION STRATEGY</a:t>
            </a:r>
          </a:p>
        </p:txBody>
      </p:sp>
      <p:sp>
        <p:nvSpPr>
          <p:cNvPr id="151" name="TextBox 2"/>
          <p:cNvSpPr txBox="1"/>
          <p:nvPr/>
        </p:nvSpPr>
        <p:spPr>
          <a:xfrm>
            <a:off x="676655" y="1850896"/>
            <a:ext cx="10972802" cy="308338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000"/>
            </a:pPr>
            <a:r>
              <a:t>8. Dataset Expansion through Crowdsourcing</a:t>
            </a:r>
          </a:p>
          <a:p>
            <a:pPr>
              <a:defRPr sz="2000"/>
            </a:pPr>
            <a:r>
              <a:t>To improve model accuracy, we implement a feedback loop where users can upload new food images or correct model predictions. These images are stored (with consent) and used to continuously train the model.</a:t>
            </a:r>
          </a:p>
          <a:p>
            <a:pPr>
              <a:defRPr sz="2000"/>
            </a:pPr>
          </a:p>
          <a:p>
            <a:pPr>
              <a:defRPr sz="2000"/>
            </a:pPr>
            <a:r>
              <a:t>Purpose: Keep the model updated with real-world data.</a:t>
            </a:r>
          </a:p>
          <a:p>
            <a:pPr>
              <a:defRPr sz="2000"/>
            </a:pPr>
          </a:p>
          <a:p>
            <a:pPr>
              <a:defRPr sz="2000"/>
            </a:pPr>
            <a:r>
              <a:t>Benefit: Adapts to new dishes and cultural foods quickly.</a:t>
            </a:r>
          </a:p>
          <a:p>
            <a:pPr>
              <a:defRPr sz="2000"/>
            </a:pPr>
          </a:p>
          <a:p>
            <a:pPr>
              <a:defRPr sz="2000"/>
            </a:pPr>
            <a:r>
              <a:t>Datasets Used : Food101, UECFoodPix, Food Recognition 2022</a:t>
            </a:r>
          </a:p>
        </p:txBody>
      </p:sp>
      <p:pic>
        <p:nvPicPr>
          <p:cNvPr id="152" name="Picture 1" descr="Picture 1"/>
          <p:cNvPicPr>
            <a:picLocks noChangeAspect="1"/>
          </p:cNvPicPr>
          <p:nvPr/>
        </p:nvPicPr>
        <p:blipFill>
          <a:blip r:embed="rId2">
            <a:extLst/>
          </a:blip>
          <a:stretch>
            <a:fillRect/>
          </a:stretch>
        </p:blipFill>
        <p:spPr>
          <a:xfrm>
            <a:off x="10567237" y="6406186"/>
            <a:ext cx="1624763" cy="371891"/>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TextBox 3"/>
          <p:cNvSpPr txBox="1"/>
          <p:nvPr/>
        </p:nvSpPr>
        <p:spPr>
          <a:xfrm>
            <a:off x="2657474" y="690431"/>
            <a:ext cx="6877052" cy="1005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3200">
                <a:latin typeface="Garamond"/>
                <a:ea typeface="Garamond"/>
                <a:cs typeface="Garamond"/>
                <a:sym typeface="Garamond"/>
              </a:defRPr>
            </a:lvl1pPr>
          </a:lstStyle>
          <a:p>
            <a:pPr/>
            <a:r>
              <a:t>RESEARCH DESIGN / WORKFLOW / METHODOLOGY</a:t>
            </a:r>
          </a:p>
        </p:txBody>
      </p:sp>
      <p:pic>
        <p:nvPicPr>
          <p:cNvPr id="155" name="Picture 1" descr="Picture 1"/>
          <p:cNvPicPr>
            <a:picLocks noChangeAspect="1"/>
          </p:cNvPicPr>
          <p:nvPr/>
        </p:nvPicPr>
        <p:blipFill>
          <a:blip r:embed="rId2">
            <a:extLst/>
          </a:blip>
          <a:stretch>
            <a:fillRect/>
          </a:stretch>
        </p:blipFill>
        <p:spPr>
          <a:xfrm>
            <a:off x="10567237" y="6406186"/>
            <a:ext cx="1624763" cy="371891"/>
          </a:xfrm>
          <a:prstGeom prst="rect">
            <a:avLst/>
          </a:prstGeom>
          <a:ln w="12700">
            <a:miter lim="400000"/>
          </a:ln>
        </p:spPr>
      </p:pic>
      <p:pic>
        <p:nvPicPr>
          <p:cNvPr id="156" name="Ink 5" descr="Ink 5"/>
          <p:cNvPicPr>
            <a:picLocks noChangeAspect="1"/>
          </p:cNvPicPr>
          <p:nvPr/>
        </p:nvPicPr>
        <p:blipFill>
          <a:blip r:embed="rId3">
            <a:extLst/>
          </a:blip>
          <a:stretch>
            <a:fillRect/>
          </a:stretch>
        </p:blipFill>
        <p:spPr>
          <a:xfrm>
            <a:off x="4362191" y="2403936"/>
            <a:ext cx="766801" cy="130681"/>
          </a:xfrm>
          <a:prstGeom prst="rect">
            <a:avLst/>
          </a:prstGeom>
          <a:ln w="12700">
            <a:miter lim="400000"/>
          </a:ln>
        </p:spPr>
      </p:pic>
      <p:grpSp>
        <p:nvGrpSpPr>
          <p:cNvPr id="159" name="Group 10"/>
          <p:cNvGrpSpPr/>
          <p:nvPr/>
        </p:nvGrpSpPr>
        <p:grpSpPr>
          <a:xfrm>
            <a:off x="3938111" y="2403936"/>
            <a:ext cx="6203162" cy="120961"/>
            <a:chOff x="0" y="0"/>
            <a:chExt cx="6203160" cy="120959"/>
          </a:xfrm>
        </p:grpSpPr>
        <p:pic>
          <p:nvPicPr>
            <p:cNvPr id="157" name="Ink 6" descr="Ink 6"/>
            <p:cNvPicPr>
              <a:picLocks noChangeAspect="1"/>
            </p:cNvPicPr>
            <p:nvPr/>
          </p:nvPicPr>
          <p:blipFill>
            <a:blip r:embed="rId4">
              <a:extLst/>
            </a:blip>
            <a:stretch>
              <a:fillRect/>
            </a:stretch>
          </p:blipFill>
          <p:spPr>
            <a:xfrm>
              <a:off x="-1" y="0"/>
              <a:ext cx="1978922" cy="120960"/>
            </a:xfrm>
            <a:prstGeom prst="rect">
              <a:avLst/>
            </a:prstGeom>
            <a:ln w="12700" cap="flat">
              <a:noFill/>
              <a:miter lim="400000"/>
            </a:ln>
            <a:effectLst/>
          </p:spPr>
        </p:pic>
        <p:pic>
          <p:nvPicPr>
            <p:cNvPr id="158" name="Ink 9" descr="Ink 9"/>
            <p:cNvPicPr>
              <a:picLocks noChangeAspect="1"/>
            </p:cNvPicPr>
            <p:nvPr/>
          </p:nvPicPr>
          <p:blipFill>
            <a:blip r:embed="rId5">
              <a:extLst/>
            </a:blip>
            <a:stretch>
              <a:fillRect/>
            </a:stretch>
          </p:blipFill>
          <p:spPr>
            <a:xfrm>
              <a:off x="5068800" y="37439"/>
              <a:ext cx="1134361" cy="19801"/>
            </a:xfrm>
            <a:prstGeom prst="rect">
              <a:avLst/>
            </a:prstGeom>
            <a:ln w="12700" cap="flat">
              <a:noFill/>
              <a:miter lim="400000"/>
            </a:ln>
            <a:effectLst/>
          </p:spPr>
        </p:pic>
      </p:grpSp>
      <p:pic>
        <p:nvPicPr>
          <p:cNvPr id="160" name="Ink 11" descr="Ink 11"/>
          <p:cNvPicPr>
            <a:picLocks noChangeAspect="1"/>
          </p:cNvPicPr>
          <p:nvPr/>
        </p:nvPicPr>
        <p:blipFill>
          <a:blip r:embed="rId6">
            <a:extLst/>
          </a:blip>
          <a:stretch>
            <a:fillRect/>
          </a:stretch>
        </p:blipFill>
        <p:spPr>
          <a:xfrm>
            <a:off x="2248991" y="2423016"/>
            <a:ext cx="874081" cy="73801"/>
          </a:xfrm>
          <a:prstGeom prst="rect">
            <a:avLst/>
          </a:prstGeom>
          <a:ln w="12700">
            <a:miter lim="400000"/>
          </a:ln>
        </p:spPr>
      </p:pic>
      <p:pic>
        <p:nvPicPr>
          <p:cNvPr id="161" name="Ink 12" descr="Ink 12"/>
          <p:cNvPicPr>
            <a:picLocks noChangeAspect="1"/>
          </p:cNvPicPr>
          <p:nvPr/>
        </p:nvPicPr>
        <p:blipFill>
          <a:blip r:embed="rId7">
            <a:extLst/>
          </a:blip>
          <a:stretch>
            <a:fillRect/>
          </a:stretch>
        </p:blipFill>
        <p:spPr>
          <a:xfrm>
            <a:off x="2258711" y="2733695"/>
            <a:ext cx="786961" cy="48241"/>
          </a:xfrm>
          <a:prstGeom prst="rect">
            <a:avLst/>
          </a:prstGeom>
          <a:ln w="12700">
            <a:miter lim="400000"/>
          </a:ln>
        </p:spPr>
      </p:pic>
      <p:pic>
        <p:nvPicPr>
          <p:cNvPr id="162" name="Ink 18" descr="Ink 18"/>
          <p:cNvPicPr>
            <a:picLocks noChangeAspect="1"/>
          </p:cNvPicPr>
          <p:nvPr/>
        </p:nvPicPr>
        <p:blipFill>
          <a:blip r:embed="rId8">
            <a:extLst/>
          </a:blip>
          <a:stretch>
            <a:fillRect/>
          </a:stretch>
        </p:blipFill>
        <p:spPr>
          <a:xfrm>
            <a:off x="6381432" y="4680215"/>
            <a:ext cx="1353241" cy="29521"/>
          </a:xfrm>
          <a:prstGeom prst="rect">
            <a:avLst/>
          </a:prstGeom>
          <a:ln w="12700">
            <a:miter lim="400000"/>
          </a:ln>
        </p:spPr>
      </p:pic>
      <p:pic>
        <p:nvPicPr>
          <p:cNvPr id="163" name="Ink 19" descr="Ink 19"/>
          <p:cNvPicPr>
            <a:picLocks noChangeAspect="1"/>
          </p:cNvPicPr>
          <p:nvPr/>
        </p:nvPicPr>
        <p:blipFill>
          <a:blip r:embed="rId9">
            <a:extLst/>
          </a:blip>
          <a:stretch>
            <a:fillRect/>
          </a:stretch>
        </p:blipFill>
        <p:spPr>
          <a:xfrm>
            <a:off x="9024911" y="4634496"/>
            <a:ext cx="1262521" cy="95041"/>
          </a:xfrm>
          <a:prstGeom prst="rect">
            <a:avLst/>
          </a:prstGeom>
          <a:ln w="12700">
            <a:miter lim="400000"/>
          </a:ln>
        </p:spPr>
      </p:pic>
      <p:pic>
        <p:nvPicPr>
          <p:cNvPr id="164" name="yolo working.avif" descr="yolo working.avif"/>
          <p:cNvPicPr>
            <a:picLocks noChangeAspect="1"/>
          </p:cNvPicPr>
          <p:nvPr/>
        </p:nvPicPr>
        <p:blipFill>
          <a:blip r:embed="rId10">
            <a:extLst/>
          </a:blip>
          <a:srcRect l="1766" t="3656" r="1766" b="5638"/>
          <a:stretch>
            <a:fillRect/>
          </a:stretch>
        </p:blipFill>
        <p:spPr>
          <a:xfrm>
            <a:off x="2139156" y="1946555"/>
            <a:ext cx="7913659" cy="4343650"/>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6" name="TextBox 3"/>
          <p:cNvSpPr txBox="1"/>
          <p:nvPr/>
        </p:nvSpPr>
        <p:spPr>
          <a:xfrm>
            <a:off x="2657474" y="456116"/>
            <a:ext cx="6877052" cy="1005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3200">
                <a:latin typeface="Garamond"/>
                <a:ea typeface="Garamond"/>
                <a:cs typeface="Garamond"/>
                <a:sym typeface="Garamond"/>
              </a:defRPr>
            </a:lvl1pPr>
          </a:lstStyle>
          <a:p>
            <a:pPr/>
            <a:r>
              <a:t>RESEARCH DESIGN / WORKFLOW / METHODOLOGY</a:t>
            </a:r>
          </a:p>
        </p:txBody>
      </p:sp>
      <p:pic>
        <p:nvPicPr>
          <p:cNvPr id="167" name="Picture 1" descr="Picture 1"/>
          <p:cNvPicPr>
            <a:picLocks noChangeAspect="1"/>
          </p:cNvPicPr>
          <p:nvPr/>
        </p:nvPicPr>
        <p:blipFill>
          <a:blip r:embed="rId2">
            <a:extLst/>
          </a:blip>
          <a:stretch>
            <a:fillRect/>
          </a:stretch>
        </p:blipFill>
        <p:spPr>
          <a:xfrm>
            <a:off x="10567237" y="6406186"/>
            <a:ext cx="1624763" cy="371891"/>
          </a:xfrm>
          <a:prstGeom prst="rect">
            <a:avLst/>
          </a:prstGeom>
          <a:ln w="12700">
            <a:miter lim="400000"/>
          </a:ln>
        </p:spPr>
      </p:pic>
      <p:pic>
        <p:nvPicPr>
          <p:cNvPr id="168" name="Ink 5" descr="Ink 5"/>
          <p:cNvPicPr>
            <a:picLocks noChangeAspect="1"/>
          </p:cNvPicPr>
          <p:nvPr/>
        </p:nvPicPr>
        <p:blipFill>
          <a:blip r:embed="rId3">
            <a:extLst/>
          </a:blip>
          <a:stretch>
            <a:fillRect/>
          </a:stretch>
        </p:blipFill>
        <p:spPr>
          <a:xfrm>
            <a:off x="4362191" y="2403936"/>
            <a:ext cx="766801" cy="130681"/>
          </a:xfrm>
          <a:prstGeom prst="rect">
            <a:avLst/>
          </a:prstGeom>
          <a:ln w="12700">
            <a:miter lim="400000"/>
          </a:ln>
        </p:spPr>
      </p:pic>
      <p:grpSp>
        <p:nvGrpSpPr>
          <p:cNvPr id="171" name="Group 10"/>
          <p:cNvGrpSpPr/>
          <p:nvPr/>
        </p:nvGrpSpPr>
        <p:grpSpPr>
          <a:xfrm>
            <a:off x="3938111" y="2403936"/>
            <a:ext cx="6203162" cy="120961"/>
            <a:chOff x="0" y="0"/>
            <a:chExt cx="6203160" cy="120959"/>
          </a:xfrm>
        </p:grpSpPr>
        <p:pic>
          <p:nvPicPr>
            <p:cNvPr id="169" name="Ink 6" descr="Ink 6"/>
            <p:cNvPicPr>
              <a:picLocks noChangeAspect="1"/>
            </p:cNvPicPr>
            <p:nvPr/>
          </p:nvPicPr>
          <p:blipFill>
            <a:blip r:embed="rId4">
              <a:extLst/>
            </a:blip>
            <a:stretch>
              <a:fillRect/>
            </a:stretch>
          </p:blipFill>
          <p:spPr>
            <a:xfrm>
              <a:off x="-1" y="0"/>
              <a:ext cx="1978922" cy="120960"/>
            </a:xfrm>
            <a:prstGeom prst="rect">
              <a:avLst/>
            </a:prstGeom>
            <a:ln w="12700" cap="flat">
              <a:noFill/>
              <a:miter lim="400000"/>
            </a:ln>
            <a:effectLst/>
          </p:spPr>
        </p:pic>
        <p:pic>
          <p:nvPicPr>
            <p:cNvPr id="170" name="Ink 9" descr="Ink 9"/>
            <p:cNvPicPr>
              <a:picLocks noChangeAspect="1"/>
            </p:cNvPicPr>
            <p:nvPr/>
          </p:nvPicPr>
          <p:blipFill>
            <a:blip r:embed="rId5">
              <a:extLst/>
            </a:blip>
            <a:stretch>
              <a:fillRect/>
            </a:stretch>
          </p:blipFill>
          <p:spPr>
            <a:xfrm>
              <a:off x="5068800" y="37439"/>
              <a:ext cx="1134361" cy="19801"/>
            </a:xfrm>
            <a:prstGeom prst="rect">
              <a:avLst/>
            </a:prstGeom>
            <a:ln w="12700" cap="flat">
              <a:noFill/>
              <a:miter lim="400000"/>
            </a:ln>
            <a:effectLst/>
          </p:spPr>
        </p:pic>
      </p:grpSp>
      <p:pic>
        <p:nvPicPr>
          <p:cNvPr id="172" name="Ink 11" descr="Ink 11"/>
          <p:cNvPicPr>
            <a:picLocks noChangeAspect="1"/>
          </p:cNvPicPr>
          <p:nvPr/>
        </p:nvPicPr>
        <p:blipFill>
          <a:blip r:embed="rId6">
            <a:extLst/>
          </a:blip>
          <a:stretch>
            <a:fillRect/>
          </a:stretch>
        </p:blipFill>
        <p:spPr>
          <a:xfrm>
            <a:off x="2248991" y="2423016"/>
            <a:ext cx="874081" cy="73801"/>
          </a:xfrm>
          <a:prstGeom prst="rect">
            <a:avLst/>
          </a:prstGeom>
          <a:ln w="12700">
            <a:miter lim="400000"/>
          </a:ln>
        </p:spPr>
      </p:pic>
      <p:pic>
        <p:nvPicPr>
          <p:cNvPr id="173" name="Ink 12" descr="Ink 12"/>
          <p:cNvPicPr>
            <a:picLocks noChangeAspect="1"/>
          </p:cNvPicPr>
          <p:nvPr/>
        </p:nvPicPr>
        <p:blipFill>
          <a:blip r:embed="rId7">
            <a:extLst/>
          </a:blip>
          <a:stretch>
            <a:fillRect/>
          </a:stretch>
        </p:blipFill>
        <p:spPr>
          <a:xfrm>
            <a:off x="2258711" y="2733695"/>
            <a:ext cx="786961" cy="48241"/>
          </a:xfrm>
          <a:prstGeom prst="rect">
            <a:avLst/>
          </a:prstGeom>
          <a:ln w="12700">
            <a:miter lim="400000"/>
          </a:ln>
        </p:spPr>
      </p:pic>
      <p:pic>
        <p:nvPicPr>
          <p:cNvPr id="174" name="Ink 18" descr="Ink 18"/>
          <p:cNvPicPr>
            <a:picLocks noChangeAspect="1"/>
          </p:cNvPicPr>
          <p:nvPr/>
        </p:nvPicPr>
        <p:blipFill>
          <a:blip r:embed="rId8">
            <a:extLst/>
          </a:blip>
          <a:stretch>
            <a:fillRect/>
          </a:stretch>
        </p:blipFill>
        <p:spPr>
          <a:xfrm>
            <a:off x="6381432" y="4680215"/>
            <a:ext cx="1353241" cy="29521"/>
          </a:xfrm>
          <a:prstGeom prst="rect">
            <a:avLst/>
          </a:prstGeom>
          <a:ln w="12700">
            <a:miter lim="400000"/>
          </a:ln>
        </p:spPr>
      </p:pic>
      <p:pic>
        <p:nvPicPr>
          <p:cNvPr id="175" name="Ink 19" descr="Ink 19"/>
          <p:cNvPicPr>
            <a:picLocks noChangeAspect="1"/>
          </p:cNvPicPr>
          <p:nvPr/>
        </p:nvPicPr>
        <p:blipFill>
          <a:blip r:embed="rId9">
            <a:extLst/>
          </a:blip>
          <a:stretch>
            <a:fillRect/>
          </a:stretch>
        </p:blipFill>
        <p:spPr>
          <a:xfrm>
            <a:off x="9024911" y="4634496"/>
            <a:ext cx="1262521" cy="95041"/>
          </a:xfrm>
          <a:prstGeom prst="rect">
            <a:avLst/>
          </a:prstGeom>
          <a:ln w="12700">
            <a:miter lim="400000"/>
          </a:ln>
        </p:spPr>
      </p:pic>
      <p:pic>
        <p:nvPicPr>
          <p:cNvPr id="176" name="Content Placeholder 2" descr="Content Placeholder 2"/>
          <p:cNvPicPr>
            <a:picLocks noChangeAspect="1"/>
          </p:cNvPicPr>
          <p:nvPr/>
        </p:nvPicPr>
        <p:blipFill>
          <a:blip r:embed="rId10">
            <a:extLst/>
          </a:blip>
          <a:stretch>
            <a:fillRect/>
          </a:stretch>
        </p:blipFill>
        <p:spPr>
          <a:xfrm>
            <a:off x="1562782" y="2247366"/>
            <a:ext cx="9228460" cy="3255347"/>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 name="Title 5"/>
          <p:cNvSpPr txBox="1"/>
          <p:nvPr>
            <p:ph type="title"/>
          </p:nvPr>
        </p:nvSpPr>
        <p:spPr>
          <a:xfrm>
            <a:off x="1097280" y="286603"/>
            <a:ext cx="10058401" cy="1450757"/>
          </a:xfrm>
          <a:prstGeom prst="rect">
            <a:avLst/>
          </a:prstGeom>
        </p:spPr>
        <p:txBody>
          <a:bodyPr/>
          <a:lstStyle>
            <a:lvl1pPr algn="ctr">
              <a:defRPr b="1" spc="-100">
                <a:latin typeface="Garamond"/>
                <a:ea typeface="Garamond"/>
                <a:cs typeface="Garamond"/>
                <a:sym typeface="Garamond"/>
              </a:defRPr>
            </a:lvl1pPr>
          </a:lstStyle>
          <a:p>
            <a:pPr/>
            <a:r>
              <a:t>ONLINE COURSE TO HELP US IN OUR IMPLEMENTATION</a:t>
            </a:r>
          </a:p>
        </p:txBody>
      </p:sp>
      <p:pic>
        <p:nvPicPr>
          <p:cNvPr id="179" name="Picture 1" descr="Picture 1"/>
          <p:cNvPicPr>
            <a:picLocks noChangeAspect="1"/>
          </p:cNvPicPr>
          <p:nvPr/>
        </p:nvPicPr>
        <p:blipFill>
          <a:blip r:embed="rId3">
            <a:extLst/>
          </a:blip>
          <a:stretch>
            <a:fillRect/>
          </a:stretch>
        </p:blipFill>
        <p:spPr>
          <a:xfrm>
            <a:off x="10567237" y="6406186"/>
            <a:ext cx="1624763" cy="371891"/>
          </a:xfrm>
          <a:prstGeom prst="rect">
            <a:avLst/>
          </a:prstGeom>
          <a:ln w="12700">
            <a:miter lim="400000"/>
          </a:ln>
        </p:spPr>
      </p:pic>
      <p:graphicFrame>
        <p:nvGraphicFramePr>
          <p:cNvPr id="180" name="Table 8"/>
          <p:cNvGraphicFramePr/>
          <p:nvPr/>
        </p:nvGraphicFramePr>
        <p:xfrm>
          <a:off x="1268094" y="1899920"/>
          <a:ext cx="9887586" cy="3815080"/>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1570355"/>
                <a:gridCol w="5021580"/>
                <a:gridCol w="3295650"/>
              </a:tblGrid>
              <a:tr h="953770">
                <a:tc>
                  <a:txBody>
                    <a:bodyPr/>
                    <a:lstStyle/>
                    <a:p>
                      <a:pPr algn="l" defTabSz="914400">
                        <a:defRPr b="0" sz="1800">
                          <a:solidFill>
                            <a:srgbClr val="000000"/>
                          </a:solidFill>
                        </a:defRPr>
                      </a:pPr>
                      <a:r>
                        <a:rPr b="1">
                          <a:solidFill>
                            <a:srgbClr val="FFFFFF"/>
                          </a:solidFill>
                        </a:rPr>
                        <a:t>SL.NO.</a:t>
                      </a:r>
                    </a:p>
                  </a:txBody>
                  <a:tcPr marL="45720" marR="45720" marT="45720" marB="45720" anchor="ctr" anchorCtr="0" horzOverflow="overflow">
                    <a:solidFill>
                      <a:schemeClr val="accent1"/>
                    </a:solidFill>
                  </a:tcPr>
                </a:tc>
                <a:tc>
                  <a:txBody>
                    <a:bodyPr/>
                    <a:lstStyle/>
                    <a:p>
                      <a:pPr algn="l" defTabSz="914400">
                        <a:defRPr b="0" sz="1800">
                          <a:solidFill>
                            <a:srgbClr val="000000"/>
                          </a:solidFill>
                        </a:defRPr>
                      </a:pPr>
                      <a:r>
                        <a:rPr b="1">
                          <a:solidFill>
                            <a:srgbClr val="FFFFFF"/>
                          </a:solidFill>
                        </a:rPr>
                        <a:t>ONLINE COURSES THAT WE ARE DOING TO HELP US IN OUR IMPLEMENTATION</a:t>
                      </a:r>
                    </a:p>
                  </a:txBody>
                  <a:tcPr marL="45720" marR="45720" marT="45720" marB="45720" anchor="t" anchorCtr="0" horzOverflow="overflow">
                    <a:solidFill>
                      <a:schemeClr val="accent1"/>
                    </a:solidFill>
                  </a:tcPr>
                </a:tc>
                <a:tc>
                  <a:txBody>
                    <a:bodyPr/>
                    <a:lstStyle/>
                    <a:p>
                      <a:pPr algn="l" defTabSz="914400">
                        <a:defRPr b="0" sz="1800">
                          <a:solidFill>
                            <a:srgbClr val="000000"/>
                          </a:solidFill>
                        </a:defRPr>
                      </a:pPr>
                      <a:r>
                        <a:rPr b="1">
                          <a:solidFill>
                            <a:srgbClr val="FFFFFF"/>
                          </a:solidFill>
                        </a:rPr>
                        <a:t>DURATION(IN HOURS)</a:t>
                      </a:r>
                    </a:p>
                  </a:txBody>
                  <a:tcPr marL="45720" marR="45720" marT="45720" marB="45720" anchor="t" anchorCtr="0" horzOverflow="overflow">
                    <a:solidFill>
                      <a:schemeClr val="accent1"/>
                    </a:solidFill>
                  </a:tcPr>
                </a:tc>
              </a:tr>
              <a:tr h="953770">
                <a:tc>
                  <a:txBody>
                    <a:bodyPr/>
                    <a:lstStyle/>
                    <a:p>
                      <a:pPr algn="ctr" defTabSz="914400">
                        <a:defRPr sz="1800"/>
                      </a:pPr>
                      <a:r>
                        <a:t>1.</a:t>
                      </a:r>
                    </a:p>
                  </a:txBody>
                  <a:tcPr marL="45720" marR="45720" marT="45720" marB="45720" anchor="ctr" anchorCtr="0" horzOverflow="overflow">
                    <a:solidFill>
                      <a:srgbClr val="F5D8CA"/>
                    </a:solidFill>
                  </a:tcPr>
                </a:tc>
                <a:tc>
                  <a:txBody>
                    <a:bodyPr/>
                    <a:lstStyle/>
                    <a:p>
                      <a:pPr algn="l" defTabSz="914400">
                        <a:defRPr sz="1800"/>
                      </a:pPr>
                      <a:r>
                        <a:t>Master the theory, practice,and math behind Data Science,Machine Learning,Deep Learning,NLP by KRISH NAIK (UDEMY)</a:t>
                      </a:r>
                    </a:p>
                  </a:txBody>
                  <a:tcPr marL="45720" marR="45720" marT="45720" marB="45720" anchor="t" anchorCtr="0" horzOverflow="overflow">
                    <a:solidFill>
                      <a:srgbClr val="F5D8CA"/>
                    </a:solidFill>
                  </a:tcPr>
                </a:tc>
                <a:tc>
                  <a:txBody>
                    <a:bodyPr/>
                    <a:lstStyle/>
                    <a:p>
                      <a:pPr algn="ctr" defTabSz="914400">
                        <a:defRPr sz="1800"/>
                      </a:pPr>
                      <a:r>
                        <a:t>99 hours</a:t>
                      </a:r>
                    </a:p>
                  </a:txBody>
                  <a:tcPr marL="45720" marR="45720" marT="45720" marB="45720" anchor="ctr" anchorCtr="0" horzOverflow="overflow">
                    <a:solidFill>
                      <a:srgbClr val="F5D8CA"/>
                    </a:solidFill>
                  </a:tcPr>
                </a:tc>
              </a:tr>
              <a:tr h="953770">
                <a:tc>
                  <a:txBody>
                    <a:bodyPr/>
                    <a:lstStyle/>
                    <a:p>
                      <a:pPr algn="ctr" defTabSz="914400">
                        <a:defRPr sz="1800"/>
                      </a:pPr>
                      <a:r>
                        <a:t>2.</a:t>
                      </a:r>
                    </a:p>
                  </a:txBody>
                  <a:tcPr marL="45720" marR="45720" marT="45720" marB="45720" anchor="ctr" anchorCtr="0" horzOverflow="overflow">
                    <a:solidFill>
                      <a:srgbClr val="FAECE6"/>
                    </a:solidFill>
                  </a:tcPr>
                </a:tc>
                <a:tc>
                  <a:txBody>
                    <a:bodyPr/>
                    <a:lstStyle/>
                    <a:p>
                      <a:pPr algn="l" defTabSz="914400">
                        <a:defRPr sz="1800"/>
                      </a:pPr>
                      <a:r>
                        <a:t>Machine Learning with Python by IBM(COURSERA)</a:t>
                      </a:r>
                    </a:p>
                  </a:txBody>
                  <a:tcPr marL="45720" marR="45720" marT="45720" marB="45720" anchor="t" anchorCtr="0" horzOverflow="overflow">
                    <a:solidFill>
                      <a:srgbClr val="FAECE6"/>
                    </a:solidFill>
                  </a:tcPr>
                </a:tc>
                <a:tc>
                  <a:txBody>
                    <a:bodyPr/>
                    <a:lstStyle/>
                    <a:p>
                      <a:pPr algn="ctr" defTabSz="914400">
                        <a:defRPr sz="1800"/>
                      </a:pPr>
                      <a:r>
                        <a:t>80 hours</a:t>
                      </a:r>
                    </a:p>
                  </a:txBody>
                  <a:tcPr marL="45720" marR="45720" marT="45720" marB="45720" anchor="ctr" anchorCtr="0" horzOverflow="overflow">
                    <a:solidFill>
                      <a:srgbClr val="FAECE6"/>
                    </a:solidFill>
                  </a:tcPr>
                </a:tc>
              </a:tr>
              <a:tr h="953770">
                <a:tc>
                  <a:txBody>
                    <a:bodyPr/>
                    <a:lstStyle/>
                    <a:p>
                      <a:pPr algn="ctr" defTabSz="914400">
                        <a:defRPr sz="1800"/>
                      </a:pPr>
                      <a:r>
                        <a:t>3.</a:t>
                      </a:r>
                    </a:p>
                  </a:txBody>
                  <a:tcPr marL="45720" marR="45720" marT="45720" marB="45720" anchor="ctr" anchorCtr="0" horzOverflow="overflow">
                    <a:solidFill>
                      <a:srgbClr val="F5D8CA"/>
                    </a:solidFill>
                  </a:tcPr>
                </a:tc>
                <a:tc>
                  <a:txBody>
                    <a:bodyPr/>
                    <a:lstStyle/>
                    <a:p>
                      <a:pPr algn="l" defTabSz="914400">
                        <a:defRPr sz="1800"/>
                      </a:pPr>
                      <a:r>
                        <a:t>Machine Learning by SIMPLILEARN (YOUTUBE)</a:t>
                      </a:r>
                    </a:p>
                  </a:txBody>
                  <a:tcPr marL="45720" marR="45720" marT="45720" marB="45720" anchor="t" anchorCtr="0" horzOverflow="overflow">
                    <a:solidFill>
                      <a:srgbClr val="F5D8CA"/>
                    </a:solidFill>
                  </a:tcPr>
                </a:tc>
                <a:tc>
                  <a:txBody>
                    <a:bodyPr/>
                    <a:lstStyle/>
                    <a:p>
                      <a:pPr algn="l" defTabSz="914400">
                        <a:defRPr sz="1800"/>
                      </a:pPr>
                    </a:p>
                  </a:txBody>
                  <a:tcPr marL="45720" marR="45720" marT="45720" marB="45720" anchor="t" anchorCtr="0" horzOverflow="overflow">
                    <a:solidFill>
                      <a:srgbClr val="F5D8CA"/>
                    </a:solidFill>
                  </a:tcPr>
                </a:tc>
              </a:tr>
            </a:tbl>
          </a:graphicData>
        </a:graphic>
      </p:graphicFrame>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2" name="Picture 1" descr="Picture 1"/>
          <p:cNvPicPr>
            <a:picLocks noChangeAspect="1"/>
          </p:cNvPicPr>
          <p:nvPr/>
        </p:nvPicPr>
        <p:blipFill>
          <a:blip r:embed="rId2">
            <a:extLst/>
          </a:blip>
          <a:stretch>
            <a:fillRect/>
          </a:stretch>
        </p:blipFill>
        <p:spPr>
          <a:xfrm>
            <a:off x="1538605" y="170814"/>
            <a:ext cx="4104005" cy="3102612"/>
          </a:xfrm>
          <a:prstGeom prst="rect">
            <a:avLst/>
          </a:prstGeom>
          <a:ln w="12700">
            <a:miter lim="400000"/>
          </a:ln>
        </p:spPr>
      </p:pic>
      <p:grpSp>
        <p:nvGrpSpPr>
          <p:cNvPr id="185" name="Rounded Rectangle 2"/>
          <p:cNvGrpSpPr/>
          <p:nvPr/>
        </p:nvGrpSpPr>
        <p:grpSpPr>
          <a:xfrm>
            <a:off x="5845809" y="782955"/>
            <a:ext cx="4639946" cy="1273811"/>
            <a:chOff x="0" y="0"/>
            <a:chExt cx="4639945" cy="1273810"/>
          </a:xfrm>
        </p:grpSpPr>
        <p:sp>
          <p:nvSpPr>
            <p:cNvPr id="183" name="Rounded Rectangle"/>
            <p:cNvSpPr/>
            <p:nvPr/>
          </p:nvSpPr>
          <p:spPr>
            <a:xfrm>
              <a:off x="0" y="0"/>
              <a:ext cx="4639946" cy="1273811"/>
            </a:xfrm>
            <a:prstGeom prst="roundRect">
              <a:avLst>
                <a:gd name="adj" fmla="val 16667"/>
              </a:avLst>
            </a:prstGeom>
            <a:solidFill>
              <a:srgbClr val="F3B56C"/>
            </a:solidFill>
            <a:ln w="15875" cap="flat">
              <a:solidFill>
                <a:srgbClr val="AB620D"/>
              </a:solidFill>
              <a:prstDash val="solid"/>
              <a:round/>
            </a:ln>
            <a:effectLst/>
          </p:spPr>
          <p:txBody>
            <a:bodyPr wrap="square" lIns="0" tIns="0" rIns="0" bIns="0" numCol="1" anchor="ctr">
              <a:noAutofit/>
            </a:bodyPr>
            <a:lstStyle/>
            <a:p>
              <a:pPr>
                <a:defRPr>
                  <a:solidFill>
                    <a:srgbClr val="FFFFFF"/>
                  </a:solidFill>
                </a:defRPr>
              </a:pPr>
            </a:p>
          </p:txBody>
        </p:sp>
        <p:sp>
          <p:nvSpPr>
            <p:cNvPr id="184" name="Master the theory, practice,and math behind Data Science,Machine Learning,Deep Learning,NLP by KRISH NAIK (UDEMY)"/>
            <p:cNvSpPr txBox="1"/>
            <p:nvPr/>
          </p:nvSpPr>
          <p:spPr>
            <a:xfrm>
              <a:off x="115839" y="178261"/>
              <a:ext cx="4408267" cy="9172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defRPr>
                  <a:solidFill>
                    <a:srgbClr val="FFFFFF"/>
                  </a:solidFill>
                </a:defRPr>
              </a:lvl1pPr>
            </a:lstStyle>
            <a:p>
              <a:pPr/>
              <a:r>
                <a:t>Master the theory, practice,and math behind Data Science,Machine Learning,Deep Learning,NLP by KRISH NAIK (UDEMY)</a:t>
              </a:r>
            </a:p>
          </p:txBody>
        </p:sp>
      </p:grpSp>
      <p:pic>
        <p:nvPicPr>
          <p:cNvPr id="186" name="Picture 3" descr="Picture 3"/>
          <p:cNvPicPr>
            <a:picLocks noChangeAspect="1"/>
          </p:cNvPicPr>
          <p:nvPr/>
        </p:nvPicPr>
        <p:blipFill>
          <a:blip r:embed="rId3">
            <a:extLst/>
          </a:blip>
          <a:stretch>
            <a:fillRect/>
          </a:stretch>
        </p:blipFill>
        <p:spPr>
          <a:xfrm>
            <a:off x="6654165" y="3077845"/>
            <a:ext cx="4717416" cy="2730501"/>
          </a:xfrm>
          <a:prstGeom prst="rect">
            <a:avLst/>
          </a:prstGeom>
          <a:ln w="12700">
            <a:miter lim="400000"/>
          </a:ln>
        </p:spPr>
      </p:pic>
      <p:grpSp>
        <p:nvGrpSpPr>
          <p:cNvPr id="189" name="Rounded Rectangle 4"/>
          <p:cNvGrpSpPr/>
          <p:nvPr/>
        </p:nvGrpSpPr>
        <p:grpSpPr>
          <a:xfrm>
            <a:off x="1741804" y="4003675"/>
            <a:ext cx="4362451" cy="1214756"/>
            <a:chOff x="0" y="0"/>
            <a:chExt cx="4362450" cy="1214755"/>
          </a:xfrm>
        </p:grpSpPr>
        <p:sp>
          <p:nvSpPr>
            <p:cNvPr id="187" name="Rounded Rectangle"/>
            <p:cNvSpPr/>
            <p:nvPr/>
          </p:nvSpPr>
          <p:spPr>
            <a:xfrm>
              <a:off x="0" y="0"/>
              <a:ext cx="4362450" cy="1214756"/>
            </a:xfrm>
            <a:prstGeom prst="roundRect">
              <a:avLst>
                <a:gd name="adj" fmla="val 16667"/>
              </a:avLst>
            </a:prstGeom>
            <a:solidFill>
              <a:srgbClr val="F3B56C"/>
            </a:solidFill>
            <a:ln w="15875" cap="flat">
              <a:solidFill>
                <a:srgbClr val="AB620D"/>
              </a:solidFill>
              <a:prstDash val="solid"/>
              <a:round/>
            </a:ln>
            <a:effectLst/>
          </p:spPr>
          <p:txBody>
            <a:bodyPr wrap="square" lIns="0" tIns="0" rIns="0" bIns="0" numCol="1" anchor="ctr">
              <a:noAutofit/>
            </a:bodyPr>
            <a:lstStyle/>
            <a:p>
              <a:pPr>
                <a:defRPr>
                  <a:solidFill>
                    <a:srgbClr val="FFFFFF"/>
                  </a:solidFill>
                </a:defRPr>
              </a:pPr>
            </a:p>
          </p:txBody>
        </p:sp>
        <p:sp>
          <p:nvSpPr>
            <p:cNvPr id="188" name="Machine Learning by SIMPLILEARN (YOUTUBE)"/>
            <p:cNvSpPr txBox="1"/>
            <p:nvPr/>
          </p:nvSpPr>
          <p:spPr>
            <a:xfrm>
              <a:off x="112956" y="294783"/>
              <a:ext cx="4136538" cy="62518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defRPr>
                  <a:solidFill>
                    <a:srgbClr val="FFFFFF"/>
                  </a:solidFill>
                </a:defRPr>
              </a:lvl1pPr>
            </a:lstStyle>
            <a:p>
              <a:pPr/>
              <a:r>
                <a:t>Machine Learning by SIMPLILEARN (YOUTUBE)</a:t>
              </a:r>
            </a:p>
          </p:txBody>
        </p:sp>
      </p:gr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191" name="Content Placeholder 13"/>
          <p:cNvGraphicFramePr/>
          <p:nvPr/>
        </p:nvGraphicFramePr>
        <p:xfrm>
          <a:off x="2179992" y="789410"/>
          <a:ext cx="6679029" cy="4519093"/>
        </p:xfrm>
        <a:graphic xmlns:a="http://schemas.openxmlformats.org/drawingml/2006/main">
          <a:graphicData uri="http://schemas.openxmlformats.org/drawingml/2006/table">
            <a:tbl>
              <a:tblPr firstCol="0" firstRow="0" lastCol="0" lastRow="0" bandCol="0" bandRow="1" rtl="0">
                <a:tableStyleId>{4C3C2611-4C71-4FC5-86AE-919BDF0F9419}</a:tableStyleId>
              </a:tblPr>
              <a:tblGrid>
                <a:gridCol w="1776078"/>
                <a:gridCol w="980589"/>
                <a:gridCol w="980589"/>
                <a:gridCol w="980589"/>
                <a:gridCol w="980589"/>
                <a:gridCol w="980589"/>
              </a:tblGrid>
              <a:tr h="349915">
                <a:tc rowSpan="2">
                  <a:txBody>
                    <a:bodyPr/>
                    <a:lstStyle/>
                    <a:p>
                      <a:pPr algn="l" defTabSz="914400">
                        <a:defRPr sz="1800"/>
                      </a:pPr>
                      <a:r>
                        <a:rPr b="1">
                          <a:solidFill>
                            <a:srgbClr val="FFFFFF"/>
                          </a:solidFill>
                        </a:rPr>
                        <a:t>ACTIVITY</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chemeClr val="accent1"/>
                    </a:solidFill>
                  </a:tcPr>
                </a:tc>
                <a:tc gridSpan="5">
                  <a:txBody>
                    <a:bodyPr/>
                    <a:lstStyle/>
                    <a:p>
                      <a:pPr algn="l" defTabSz="914400">
                        <a:defRPr b="1" sz="1800">
                          <a:solidFill>
                            <a:srgbClr val="FFFFFF"/>
                          </a:solidFill>
                        </a:defRPr>
                      </a:pPr>
                      <a:r>
                        <a:t>TIME FRAME</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chemeClr val="accent1"/>
                    </a:solidFill>
                  </a:tcPr>
                </a:tc>
                <a:tc hMerge="1">
                  <a:tcPr/>
                </a:tc>
                <a:tc hMerge="1">
                  <a:tcPr/>
                </a:tc>
                <a:tc hMerge="1">
                  <a:tcPr/>
                </a:tc>
                <a:tc hMerge="1">
                  <a:tcPr/>
                </a:tc>
              </a:tr>
              <a:tr h="376595">
                <a:tc vMerge="1">
                  <a:tcPr/>
                </a:tc>
                <a:tc>
                  <a:txBody>
                    <a:bodyPr/>
                    <a:lstStyle/>
                    <a:p>
                      <a:pPr algn="l" defTabSz="914400">
                        <a:defRPr sz="1800"/>
                      </a:pPr>
                      <a:r>
                        <a:t>Feb 2025</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r>
                        <a:t>Mar 2025</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r>
                        <a:t>April 2025</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r>
                        <a:t>May 2025</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r>
                        <a:t>June 2025</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76595">
                <a:tc rowSpan="2">
                  <a:txBody>
                    <a:bodyPr/>
                    <a:lstStyle/>
                    <a:p>
                      <a:pPr algn="l" defTabSz="914400">
                        <a:defRPr sz="1800"/>
                      </a:pPr>
                      <a:r>
                        <a:rPr sz="1400"/>
                        <a:t>Literature Survey</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D6559"/>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D6559"/>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D6559"/>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76595">
                <a:tc vMerge="1">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92D050"/>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92D050"/>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0070C0"/>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76595">
                <a:tc rowSpan="2">
                  <a:txBody>
                    <a:bodyPr/>
                    <a:lstStyle/>
                    <a:p>
                      <a:pPr algn="l" defTabSz="914400">
                        <a:defRPr sz="1800"/>
                      </a:pPr>
                      <a:r>
                        <a:rPr sz="1400"/>
                        <a:t>Problem Identification</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D6559"/>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76595">
                <a:tc vMerge="1">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92D050"/>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76595">
                <a:tc rowSpan="2">
                  <a:txBody>
                    <a:bodyPr/>
                    <a:lstStyle/>
                    <a:p>
                      <a:pPr algn="l" defTabSz="914400">
                        <a:defRPr sz="1800"/>
                      </a:pPr>
                      <a:r>
                        <a:rPr sz="1400"/>
                        <a:t>Design</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D6559"/>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D6559"/>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D6559"/>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403228">
                <a:tc vMerge="1">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92D050"/>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92D050"/>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0070C0"/>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76595">
                <a:tc rowSpan="2">
                  <a:txBody>
                    <a:bodyPr/>
                    <a:lstStyle/>
                    <a:p>
                      <a:pPr algn="l" defTabSz="914400">
                        <a:defRPr sz="1800"/>
                      </a:pPr>
                      <a:r>
                        <a:rPr sz="1400"/>
                        <a:t>Implementation</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E7E7E7"/>
                    </a:solidFill>
                  </a:tcPr>
                </a:tc>
              </a:tr>
              <a:tr h="376595">
                <a:tc vMerge="1">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76595">
                <a:tc rowSpan="2">
                  <a:txBody>
                    <a:bodyPr/>
                    <a:lstStyle/>
                    <a:p>
                      <a:pPr algn="l" defTabSz="914400">
                        <a:defRPr sz="1800"/>
                      </a:pPr>
                      <a:r>
                        <a:rPr sz="1400"/>
                        <a:t>Documentation</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D6559"/>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D6559"/>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D6559"/>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r h="376595">
                <a:tc vMerge="1">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92D050"/>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92D050"/>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0070C0"/>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c>
                  <a:txBody>
                    <a:bodyPr/>
                    <a:lstStyle/>
                    <a:p>
                      <a:pPr algn="l" defTabSz="914400">
                        <a:defRPr sz="1800"/>
                      </a:pP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solidFill>
                      <a:srgbClr val="FFFFFF"/>
                    </a:solidFill>
                  </a:tcPr>
                </a:tc>
              </a:tr>
            </a:tbl>
          </a:graphicData>
        </a:graphic>
      </p:graphicFrame>
      <p:sp>
        <p:nvSpPr>
          <p:cNvPr id="192" name="Straight Connector 3"/>
          <p:cNvSpPr/>
          <p:nvPr/>
        </p:nvSpPr>
        <p:spPr>
          <a:xfrm>
            <a:off x="1440673" y="789410"/>
            <a:ext cx="8749295" cy="1"/>
          </a:xfrm>
          <a:prstGeom prst="line">
            <a:avLst/>
          </a:prstGeom>
          <a:ln w="12700">
            <a:solidFill>
              <a:srgbClr val="000000"/>
            </a:solidFill>
          </a:ln>
        </p:spPr>
        <p:txBody>
          <a:bodyPr lIns="0" tIns="0" rIns="0" bIns="0"/>
          <a:lstStyle/>
          <a:p>
            <a:pPr/>
          </a:p>
        </p:txBody>
      </p:sp>
      <p:sp>
        <p:nvSpPr>
          <p:cNvPr id="193" name="TextBox 4"/>
          <p:cNvSpPr txBox="1"/>
          <p:nvPr/>
        </p:nvSpPr>
        <p:spPr>
          <a:xfrm>
            <a:off x="4183544" y="266189"/>
            <a:ext cx="5881764" cy="485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800">
                <a:latin typeface="Garamond"/>
                <a:ea typeface="Garamond"/>
                <a:cs typeface="Garamond"/>
                <a:sym typeface="Garamond"/>
              </a:defRPr>
            </a:lvl1pPr>
          </a:lstStyle>
          <a:p>
            <a:pPr/>
            <a:r>
              <a:t>GANTT CHART</a:t>
            </a:r>
          </a:p>
        </p:txBody>
      </p:sp>
      <p:pic>
        <p:nvPicPr>
          <p:cNvPr id="194" name="Picture 2" descr="Picture 2"/>
          <p:cNvPicPr>
            <a:picLocks noChangeAspect="1"/>
          </p:cNvPicPr>
          <p:nvPr/>
        </p:nvPicPr>
        <p:blipFill>
          <a:blip r:embed="rId2">
            <a:extLst/>
          </a:blip>
          <a:stretch>
            <a:fillRect/>
          </a:stretch>
        </p:blipFill>
        <p:spPr>
          <a:xfrm>
            <a:off x="10567237" y="6406186"/>
            <a:ext cx="1624763" cy="371891"/>
          </a:xfrm>
          <a:prstGeom prst="rect">
            <a:avLst/>
          </a:prstGeom>
          <a:ln w="12700">
            <a:miter lim="400000"/>
          </a:ln>
        </p:spPr>
      </p:pic>
      <p:sp>
        <p:nvSpPr>
          <p:cNvPr id="195" name="Straight Connector 9"/>
          <p:cNvSpPr/>
          <p:nvPr/>
        </p:nvSpPr>
        <p:spPr>
          <a:xfrm flipH="1">
            <a:off x="6144242" y="2006417"/>
            <a:ext cx="1" cy="3771861"/>
          </a:xfrm>
          <a:prstGeom prst="line">
            <a:avLst/>
          </a:prstGeom>
          <a:ln w="38100">
            <a:solidFill>
              <a:srgbClr val="000000"/>
            </a:solidFill>
            <a:prstDash val="dash"/>
          </a:ln>
        </p:spPr>
        <p:txBody>
          <a:bodyPr lIns="0" tIns="0" rIns="0" bIns="0"/>
          <a:lstStyle/>
          <a:p>
            <a:pPr/>
          </a:p>
        </p:txBody>
      </p:sp>
      <p:sp>
        <p:nvSpPr>
          <p:cNvPr id="196" name="Rectangle 12"/>
          <p:cNvSpPr/>
          <p:nvPr/>
        </p:nvSpPr>
        <p:spPr>
          <a:xfrm>
            <a:off x="1890111" y="5977270"/>
            <a:ext cx="802568" cy="296027"/>
          </a:xfrm>
          <a:prstGeom prst="rect">
            <a:avLst/>
          </a:prstGeom>
          <a:solidFill>
            <a:srgbClr val="FD6559"/>
          </a:solidFill>
          <a:ln w="15875">
            <a:solidFill>
              <a:srgbClr val="603708"/>
            </a:solidFill>
          </a:ln>
        </p:spPr>
        <p:txBody>
          <a:bodyPr lIns="0" tIns="0" rIns="0" bIns="0" anchor="ctr"/>
          <a:lstStyle/>
          <a:p>
            <a:pPr algn="ctr">
              <a:defRPr>
                <a:solidFill>
                  <a:srgbClr val="FFFFFF"/>
                </a:solidFill>
              </a:defRPr>
            </a:pPr>
          </a:p>
        </p:txBody>
      </p:sp>
      <p:sp>
        <p:nvSpPr>
          <p:cNvPr id="197" name="TextBox 13"/>
          <p:cNvSpPr txBox="1"/>
          <p:nvPr/>
        </p:nvSpPr>
        <p:spPr>
          <a:xfrm>
            <a:off x="2738399" y="5950958"/>
            <a:ext cx="2105752"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Proposed Activity</a:t>
            </a:r>
          </a:p>
        </p:txBody>
      </p:sp>
      <p:sp>
        <p:nvSpPr>
          <p:cNvPr id="198" name="Rectangle 15"/>
          <p:cNvSpPr/>
          <p:nvPr/>
        </p:nvSpPr>
        <p:spPr>
          <a:xfrm>
            <a:off x="4713349" y="5977270"/>
            <a:ext cx="802568" cy="296027"/>
          </a:xfrm>
          <a:prstGeom prst="rect">
            <a:avLst/>
          </a:prstGeom>
          <a:solidFill>
            <a:srgbClr val="92D050"/>
          </a:solidFill>
          <a:ln w="15875">
            <a:solidFill>
              <a:srgbClr val="603708"/>
            </a:solidFill>
          </a:ln>
        </p:spPr>
        <p:txBody>
          <a:bodyPr lIns="0" tIns="0" rIns="0" bIns="0" anchor="ctr"/>
          <a:lstStyle/>
          <a:p>
            <a:pPr algn="ctr">
              <a:defRPr>
                <a:solidFill>
                  <a:srgbClr val="FFFFFF"/>
                </a:solidFill>
              </a:defRPr>
            </a:pPr>
          </a:p>
        </p:txBody>
      </p:sp>
      <p:sp>
        <p:nvSpPr>
          <p:cNvPr id="199" name="TextBox 16"/>
          <p:cNvSpPr txBox="1"/>
          <p:nvPr/>
        </p:nvSpPr>
        <p:spPr>
          <a:xfrm>
            <a:off x="5512299" y="5950958"/>
            <a:ext cx="1789988"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Activity Achived</a:t>
            </a:r>
          </a:p>
        </p:txBody>
      </p:sp>
      <p:sp>
        <p:nvSpPr>
          <p:cNvPr id="200" name="Rectangle 17"/>
          <p:cNvSpPr/>
          <p:nvPr/>
        </p:nvSpPr>
        <p:spPr>
          <a:xfrm>
            <a:off x="7310726" y="5977270"/>
            <a:ext cx="802568" cy="296027"/>
          </a:xfrm>
          <a:prstGeom prst="rect">
            <a:avLst/>
          </a:prstGeom>
          <a:solidFill>
            <a:srgbClr val="0070C0"/>
          </a:solidFill>
          <a:ln w="15875">
            <a:solidFill>
              <a:srgbClr val="603708"/>
            </a:solidFill>
          </a:ln>
        </p:spPr>
        <p:txBody>
          <a:bodyPr lIns="0" tIns="0" rIns="0" bIns="0" anchor="ctr"/>
          <a:lstStyle/>
          <a:p>
            <a:pPr algn="ctr">
              <a:defRPr>
                <a:solidFill>
                  <a:srgbClr val="FFFFFF"/>
                </a:solidFill>
              </a:defRPr>
            </a:pPr>
          </a:p>
        </p:txBody>
      </p:sp>
      <p:sp>
        <p:nvSpPr>
          <p:cNvPr id="201" name="TextBox 18"/>
          <p:cNvSpPr txBox="1"/>
          <p:nvPr/>
        </p:nvSpPr>
        <p:spPr>
          <a:xfrm>
            <a:off x="8275319" y="5940618"/>
            <a:ext cx="1789989"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Ongoing Activity</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TextBox 3"/>
          <p:cNvSpPr txBox="1"/>
          <p:nvPr/>
        </p:nvSpPr>
        <p:spPr>
          <a:xfrm>
            <a:off x="4629054" y="1266122"/>
            <a:ext cx="2933892" cy="548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200">
                <a:latin typeface="Garamond"/>
                <a:ea typeface="Garamond"/>
                <a:cs typeface="Garamond"/>
                <a:sym typeface="Garamond"/>
              </a:defRPr>
            </a:lvl1pPr>
          </a:lstStyle>
          <a:p>
            <a:pPr/>
            <a:r>
              <a:t>CONCLUSION</a:t>
            </a:r>
          </a:p>
        </p:txBody>
      </p:sp>
      <p:sp>
        <p:nvSpPr>
          <p:cNvPr id="204" name="TextBox 2"/>
          <p:cNvSpPr txBox="1"/>
          <p:nvPr/>
        </p:nvSpPr>
        <p:spPr>
          <a:xfrm>
            <a:off x="612647" y="1850896"/>
            <a:ext cx="11237978" cy="308338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buSzPct val="100000"/>
              <a:buFont typeface="Arial"/>
              <a:buChar char="•"/>
              <a:defRPr sz="2000"/>
            </a:pPr>
            <a:r>
              <a:t>This project has so far cited the potential of hybrid learning in the field of food image processing and calorie estimation by automating food recognition, ingredient analysis and nutritional assessment.</a:t>
            </a:r>
          </a:p>
          <a:p>
            <a:pPr marL="342900" indent="-342900">
              <a:buSzPct val="100000"/>
              <a:buFont typeface="Arial"/>
              <a:buChar char="•"/>
              <a:defRPr sz="2000"/>
            </a:pPr>
            <a:r>
              <a:t>The system not only enhances dietary awareness but also lays the foundation for future integrations such as real-time mobile tracking, API-based health app connectivity, AI-driven personalised diet recommendations, enhanced data for further research in the field of food related diseases.</a:t>
            </a:r>
          </a:p>
          <a:p>
            <a:pPr marL="342900" indent="-342900">
              <a:buSzPct val="100000"/>
              <a:buFont typeface="Arial"/>
              <a:buChar char="•"/>
              <a:defRPr sz="2000"/>
            </a:pPr>
            <a:r>
              <a:t>By leveraging Python and PyTorch with YOLOv8 we are able to deliver real time food detection with instance segmentation capabilities. </a:t>
            </a:r>
          </a:p>
          <a:p>
            <a:pPr marL="342900" indent="-342900">
              <a:buSzPct val="100000"/>
              <a:buFont typeface="Arial"/>
              <a:buChar char="•"/>
              <a:defRPr sz="2000"/>
            </a:pPr>
            <a:r>
              <a:t>Moving forward, further improvements such as enhanced dataset training, portion size estimation, and allergen detection will strengthen the accuracy and usability of our model. We aim to make nutritional tracking effortless and accessible for all users.</a:t>
            </a:r>
          </a:p>
        </p:txBody>
      </p:sp>
      <p:pic>
        <p:nvPicPr>
          <p:cNvPr id="205" name="Picture 1" descr="Picture 1"/>
          <p:cNvPicPr>
            <a:picLocks noChangeAspect="1"/>
          </p:cNvPicPr>
          <p:nvPr/>
        </p:nvPicPr>
        <p:blipFill>
          <a:blip r:embed="rId2">
            <a:extLst/>
          </a:blip>
          <a:stretch>
            <a:fillRect/>
          </a:stretch>
        </p:blipFill>
        <p:spPr>
          <a:xfrm>
            <a:off x="10567237" y="6406186"/>
            <a:ext cx="1624763" cy="371891"/>
          </a:xfrm>
          <a:prstGeom prst="rect">
            <a:avLst/>
          </a:prstGeom>
          <a:ln w="12700">
            <a:miter lim="400000"/>
          </a:ln>
        </p:spPr>
      </p:pic>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7" name="TextBox 5"/>
          <p:cNvSpPr txBox="1"/>
          <p:nvPr/>
        </p:nvSpPr>
        <p:spPr>
          <a:xfrm>
            <a:off x="4821595" y="1274803"/>
            <a:ext cx="2548808" cy="485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800">
                <a:latin typeface="Garamond"/>
                <a:ea typeface="Garamond"/>
                <a:cs typeface="Garamond"/>
                <a:sym typeface="Garamond"/>
              </a:defRPr>
            </a:lvl1pPr>
          </a:lstStyle>
          <a:p>
            <a:pPr/>
            <a:r>
              <a:t>REFERENCES</a:t>
            </a:r>
          </a:p>
        </p:txBody>
      </p:sp>
      <p:sp>
        <p:nvSpPr>
          <p:cNvPr id="208" name="TextBox 1"/>
          <p:cNvSpPr txBox="1"/>
          <p:nvPr/>
        </p:nvSpPr>
        <p:spPr>
          <a:xfrm>
            <a:off x="1056601" y="1798023"/>
            <a:ext cx="10078795" cy="38382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85750" indent="-285750">
              <a:buSzPct val="100000"/>
              <a:buChar char="▪"/>
            </a:pPr>
            <a:r>
              <a:t>1.Food Image Recognition and Food Safety Detection Method Based on Deep Learning.</a:t>
            </a:r>
          </a:p>
          <a:p>
            <a:pPr/>
            <a:r>
              <a:t>	Ying Wang, Jianbo Wu, Hui Deng, Xianghui Zeng</a:t>
            </a:r>
          </a:p>
          <a:p>
            <a:pPr/>
            <a:r>
              <a:t>	First published: 16 December 2021</a:t>
            </a:r>
          </a:p>
          <a:p>
            <a:pPr/>
            <a:r>
              <a:t> 	</a:t>
            </a:r>
            <a:r>
              <a:rPr u="sng">
                <a:solidFill>
                  <a:srgbClr val="2998E3"/>
                </a:solidFill>
                <a:uFill>
                  <a:solidFill>
                    <a:srgbClr val="2998E3"/>
                  </a:solidFill>
                </a:uFill>
                <a:hlinkClick r:id="rId2" invalidUrl="" action="" tgtFrame="" tooltip="" history="1" highlightClick="0" endSnd="0"/>
              </a:rPr>
              <a:t>https://doi.org/10.1155/2021/1268453</a:t>
            </a:r>
            <a:endParaRPr>
              <a:solidFill>
                <a:srgbClr val="40749B"/>
              </a:solidFill>
            </a:endParaRPr>
          </a:p>
          <a:p>
            <a:pPr marL="285750" indent="-285750">
              <a:buSzPct val="100000"/>
              <a:buChar char="▪"/>
            </a:pPr>
            <a:r>
              <a:t>2.FOOD IMAGE ANALYSIS USING DEEP LEARNING </a:t>
            </a:r>
          </a:p>
          <a:p>
            <a:pPr/>
            <a:r>
              <a:t>	Dr. D.N.D. Harini (Associate Professor){Department of Computer Science and Engineering} [Gayatri 	Vidya Parishad College of Engineering (Autonomous)]</a:t>
            </a:r>
          </a:p>
          <a:p>
            <a:pPr/>
            <a:r>
              <a:t>	Dr. G. Satya Keerthi (Associate Professor){Department of Computer Science and Engineering} [Gayatri 	Vidya Parishad College of Engineering (Autonomous)]</a:t>
            </a:r>
          </a:p>
          <a:p>
            <a:pPr/>
            <a:r>
              <a:t>	Issue-5 2023</a:t>
            </a:r>
          </a:p>
          <a:p>
            <a:pPr lvl="1">
              <a:defRPr>
                <a:solidFill>
                  <a:srgbClr val="40749B"/>
                </a:solidFill>
              </a:defRPr>
            </a:pPr>
            <a:r>
              <a:rPr u="sng">
                <a:solidFill>
                  <a:srgbClr val="2998E3"/>
                </a:solidFill>
                <a:uFill>
                  <a:solidFill>
                    <a:srgbClr val="2998E3"/>
                  </a:solidFill>
                </a:uFill>
                <a:hlinkClick r:id="rId3" invalidUrl="" action="" tgtFrame="" tooltip="" history="1" highlightClick="0" endSnd="0"/>
              </a:rPr>
              <a:t>https://ijariie.com/AdminUploadPdf/Food_Image_Processing_Using_Deep_Learning_ijariie21880.pdf?  </a:t>
            </a:r>
            <a:r>
              <a:rPr u="sng">
                <a:solidFill>
                  <a:srgbClr val="2998E3"/>
                </a:solidFill>
                <a:uFill>
                  <a:solidFill>
                    <a:srgbClr val="2998E3"/>
                  </a:solidFill>
                </a:uFill>
                <a:hlinkClick r:id="rId3" invalidUrl="" action="" tgtFrame="" tooltip="" history="1" highlightClick="0" endSnd="0"/>
              </a:rPr>
              <a:t>srsltid</a:t>
            </a:r>
            <a:r>
              <a:rPr u="sng">
                <a:solidFill>
                  <a:srgbClr val="2998E3"/>
                </a:solidFill>
                <a:uFill>
                  <a:solidFill>
                    <a:srgbClr val="2998E3"/>
                  </a:solidFill>
                </a:uFill>
                <a:hlinkClick r:id="rId3" invalidUrl="" action="" tgtFrame="" tooltip="" history="1" highlightClick="0" endSnd="0"/>
              </a:rPr>
              <a:t>=AfmBOoo0b-jiirjdOME09RbINc_0rr3CkvrLkGUb47wej_7RMd5N6HA5</a:t>
            </a:r>
          </a:p>
        </p:txBody>
      </p:sp>
      <p:pic>
        <p:nvPicPr>
          <p:cNvPr id="209" name="Picture 3" descr="Picture 3"/>
          <p:cNvPicPr>
            <a:picLocks noChangeAspect="1"/>
          </p:cNvPicPr>
          <p:nvPr/>
        </p:nvPicPr>
        <p:blipFill>
          <a:blip r:embed="rId4">
            <a:extLst/>
          </a:blip>
          <a:stretch>
            <a:fillRect/>
          </a:stretch>
        </p:blipFill>
        <p:spPr>
          <a:xfrm>
            <a:off x="10567237" y="6406186"/>
            <a:ext cx="1624763" cy="371891"/>
          </a:xfrm>
          <a:prstGeom prst="rect">
            <a:avLst/>
          </a:prstGeom>
          <a:ln w="12700">
            <a:miter lim="400000"/>
          </a:ln>
        </p:spPr>
      </p:pic>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1" name="TextBox 5"/>
          <p:cNvSpPr txBox="1"/>
          <p:nvPr/>
        </p:nvSpPr>
        <p:spPr>
          <a:xfrm>
            <a:off x="4785020" y="1283947"/>
            <a:ext cx="2621959" cy="485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800">
                <a:latin typeface="Garamond"/>
                <a:ea typeface="Garamond"/>
                <a:cs typeface="Garamond"/>
                <a:sym typeface="Garamond"/>
              </a:defRPr>
            </a:lvl1pPr>
          </a:lstStyle>
          <a:p>
            <a:pPr/>
            <a:r>
              <a:t>REFERENCES</a:t>
            </a:r>
          </a:p>
        </p:txBody>
      </p:sp>
      <p:sp>
        <p:nvSpPr>
          <p:cNvPr id="212" name="TextBox 1"/>
          <p:cNvSpPr txBox="1"/>
          <p:nvPr/>
        </p:nvSpPr>
        <p:spPr>
          <a:xfrm>
            <a:off x="1056601" y="1807167"/>
            <a:ext cx="10078795" cy="41303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85750" indent="-285750">
              <a:buSzPct val="100000"/>
              <a:buChar char="▪"/>
            </a:pPr>
            <a:r>
              <a:t>3. “Food Calorie Estimation Using Deep Learning”. Harichandana Cherikuri1, Utkarsha Karale2, Student I2IT, Pune Student I2IT, Pune Vandana Punjabi3 Student I2IT, Pune Prof. Kamna Sahu Professor, I2IT, Pune Datta Zarikar4 Student I2IT, Pune </a:t>
            </a:r>
            <a:br/>
            <a:r>
              <a:rPr u="sng">
                <a:solidFill>
                  <a:srgbClr val="2998E3"/>
                </a:solidFill>
                <a:uFill>
                  <a:solidFill>
                    <a:srgbClr val="2998E3"/>
                  </a:solidFill>
                </a:uFill>
                <a:hlinkClick r:id="rId2" invalidUrl="" action="" tgtFrame="" tooltip="" history="1" highlightClick="0" endSnd="0"/>
              </a:rPr>
              <a:t>Microsoft Word - 13-AJ2290</a:t>
            </a:r>
          </a:p>
          <a:p>
            <a:pPr marL="285750" indent="-285750">
              <a:buSzPct val="100000"/>
              <a:buChar char="▪"/>
            </a:pPr>
            <a:r>
              <a:t>4. Application of Computer Vision System in Food Processing- A Review Aasima Rafiqa, Hilal A Makroob, Poonam Sachdevaa and Savita Sharmaa</a:t>
            </a:r>
            <a:br/>
            <a:r>
              <a:rPr u="sng">
                <a:solidFill>
                  <a:srgbClr val="2998E3"/>
                </a:solidFill>
                <a:uFill>
                  <a:solidFill>
                    <a:srgbClr val="2998E3"/>
                  </a:solidFill>
                </a:uFill>
                <a:hlinkClick r:id="rId3" invalidUrl="" action="" tgtFrame="" tooltip="" history="1" highlightClick="0" endSnd="0"/>
              </a:rPr>
              <a:t>1715238129.pdf</a:t>
            </a:r>
          </a:p>
          <a:p>
            <a:pPr marL="285750" indent="-285750">
              <a:buSzPct val="100000"/>
              <a:buChar char="▪"/>
            </a:pPr>
            <a:r>
              <a:t>5. Food Recognition using Ingredient-Level Features Jay Baxter Massachusetts Institute of Technology</a:t>
            </a:r>
            <a:br/>
            <a:r>
              <a:rPr u="sng">
                <a:solidFill>
                  <a:srgbClr val="2998E3"/>
                </a:solidFill>
                <a:uFill>
                  <a:solidFill>
                    <a:srgbClr val="2998E3"/>
                  </a:solidFill>
                </a:uFill>
                <a:hlinkClick r:id="rId4" invalidUrl="" action="" tgtFrame="" tooltip="" history="1" highlightClick="0" endSnd="0"/>
              </a:rPr>
              <a:t>6869_food_project.pdf</a:t>
            </a:r>
          </a:p>
          <a:p>
            <a:pPr marL="285750" indent="-285750">
              <a:buSzPct val="100000"/>
              <a:buChar char="▪"/>
            </a:pPr>
            <a:r>
              <a:t>6. EXPLORING THE POTENTIAL OF IMAGE PROCESSING ON FOOD RECOGNITION LaxmanRao.Y(Assitant Professor), KeerthiSree S, Niharika G, LIkitha E, Sreeja MVL</a:t>
            </a:r>
            <a:br/>
            <a:r>
              <a:rPr u="sng">
                <a:solidFill>
                  <a:srgbClr val="2998E3"/>
                </a:solidFill>
                <a:uFill>
                  <a:solidFill>
                    <a:srgbClr val="2998E3"/>
                  </a:solidFill>
                </a:uFill>
                <a:hlinkClick r:id="rId5" invalidUrl="" action="" tgtFrame="" tooltip="" history="1" highlightClick="0" endSnd="0"/>
              </a:rPr>
              <a:t>120-july2024.pdf</a:t>
            </a:r>
          </a:p>
          <a:p>
            <a:pPr marL="285750" indent="-285750">
              <a:buSzPct val="100000"/>
              <a:buChar char="▪"/>
            </a:pPr>
            <a:r>
              <a:t>7. UECFoodPix and UECFoodPix Complete : Mr Kaimu Okamoto, Prof. Keiji Yanai</a:t>
            </a:r>
          </a:p>
          <a:p>
            <a:pPr marL="285750" indent="-285750">
              <a:buSzPct val="100000"/>
              <a:buChar char="▪"/>
            </a:pPr>
            <a:r>
              <a:t>8. Food Recognition 2022 : AIcrowd</a:t>
            </a:r>
          </a:p>
        </p:txBody>
      </p:sp>
      <p:pic>
        <p:nvPicPr>
          <p:cNvPr id="213" name="Picture 3" descr="Picture 3"/>
          <p:cNvPicPr>
            <a:picLocks noChangeAspect="1"/>
          </p:cNvPicPr>
          <p:nvPr/>
        </p:nvPicPr>
        <p:blipFill>
          <a:blip r:embed="rId6">
            <a:extLst/>
          </a:blip>
          <a:stretch>
            <a:fillRect/>
          </a:stretch>
        </p:blipFill>
        <p:spPr>
          <a:xfrm>
            <a:off x="10567237" y="6406186"/>
            <a:ext cx="1624763" cy="371891"/>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A7A7A7"/>
      </a:dk2>
      <a:lt2>
        <a:srgbClr val="535353"/>
      </a:lt2>
      <a:accent1>
        <a:srgbClr val="E48312"/>
      </a:accent1>
      <a:accent2>
        <a:srgbClr val="BD582C"/>
      </a:accent2>
      <a:accent3>
        <a:srgbClr val="865640"/>
      </a:accent3>
      <a:accent4>
        <a:srgbClr val="9B8357"/>
      </a:accent4>
      <a:accent5>
        <a:srgbClr val="C2BC80"/>
      </a:accent5>
      <a:accent6>
        <a:srgbClr val="94A088"/>
      </a:accent6>
      <a:hlink>
        <a:srgbClr val="0000FF"/>
      </a:hlink>
      <a:folHlink>
        <a:srgbClr val="FF00FF"/>
      </a:folHlink>
    </a:clrScheme>
    <a:fontScheme name="Retrospect">
      <a:majorFont>
        <a:latin typeface="Calibri"/>
        <a:ea typeface="Calibri"/>
        <a:cs typeface="Calibri"/>
      </a:majorFont>
      <a:minorFont>
        <a:latin typeface="Helvetica"/>
        <a:ea typeface="Helvetica"/>
        <a:cs typeface="Helvetica"/>
      </a:minorFont>
    </a:fontScheme>
    <a:fmtScheme name="Retrospec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5875"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5875"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A7A7A7"/>
      </a:dk2>
      <a:lt2>
        <a:srgbClr val="535353"/>
      </a:lt2>
      <a:accent1>
        <a:srgbClr val="E48312"/>
      </a:accent1>
      <a:accent2>
        <a:srgbClr val="BD582C"/>
      </a:accent2>
      <a:accent3>
        <a:srgbClr val="865640"/>
      </a:accent3>
      <a:accent4>
        <a:srgbClr val="9B8357"/>
      </a:accent4>
      <a:accent5>
        <a:srgbClr val="C2BC80"/>
      </a:accent5>
      <a:accent6>
        <a:srgbClr val="94A088"/>
      </a:accent6>
      <a:hlink>
        <a:srgbClr val="0000FF"/>
      </a:hlink>
      <a:folHlink>
        <a:srgbClr val="FF00FF"/>
      </a:folHlink>
    </a:clrScheme>
    <a:fontScheme name="Retrospect">
      <a:majorFont>
        <a:latin typeface="Calibri"/>
        <a:ea typeface="Calibri"/>
        <a:cs typeface="Calibri"/>
      </a:majorFont>
      <a:minorFont>
        <a:latin typeface="Helvetica"/>
        <a:ea typeface="Helvetica"/>
        <a:cs typeface="Helvetica"/>
      </a:minorFont>
    </a:fontScheme>
    <a:fmtScheme name="Retrospec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5875"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5875"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